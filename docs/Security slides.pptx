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6" r:id="rId5"/>
    <p:sldId id="257" r:id="rId6"/>
    <p:sldId id="278" r:id="rId7"/>
    <p:sldId id="286" r:id="rId8"/>
    <p:sldId id="279" r:id="rId9"/>
    <p:sldId id="289" r:id="rId10"/>
    <p:sldId id="290" r:id="rId11"/>
    <p:sldId id="287" r:id="rId12"/>
    <p:sldId id="291" r:id="rId13"/>
    <p:sldId id="258" r:id="rId14"/>
    <p:sldId id="292" r:id="rId15"/>
    <p:sldId id="293" r:id="rId16"/>
    <p:sldId id="295" r:id="rId17"/>
    <p:sldId id="294" r:id="rId18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F3F1ED"/>
    <a:srgbClr val="898989"/>
    <a:srgbClr val="A5A5A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25E5076-3810-47DD-B79F-674D7AD40C01}" styleName="Style foncé 1 - Accentuation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9559" autoAdjust="0"/>
    <p:restoredTop sz="95033" autoAdjust="0"/>
  </p:normalViewPr>
  <p:slideViewPr>
    <p:cSldViewPr snapToGrid="0">
      <p:cViewPr varScale="1">
        <p:scale>
          <a:sx n="82" d="100"/>
          <a:sy n="82" d="100"/>
        </p:scale>
        <p:origin x="1296" y="72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882" y="144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1D2EACD3-59A3-431D-A9CB-EC029C3F3AF5}" type="datetime1">
              <a:rPr lang="fr-FR" smtClean="0"/>
              <a:t>07/05/2026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28EEFA9E-C190-4F5C-8394-BD5F1CD55C02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fr-FR" sz="1200"/>
            </a:lvl1pPr>
          </a:lstStyle>
          <a:p>
            <a:pPr rtl="0"/>
            <a:fld id="{CDA8956E-0A83-4930-8ABA-7967BBFAD4A7}" type="datetime1">
              <a:rPr lang="fr-FR" smtClean="0"/>
              <a:t>07/05/2026</a:t>
            </a:fld>
            <a:endParaRPr lang="fr-FR" dirty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fr-FR" sz="1200"/>
            </a:lvl1pPr>
          </a:lstStyle>
          <a:p>
            <a:pPr rtl="0"/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fr-FR" sz="1200"/>
            </a:lvl1pPr>
          </a:lstStyle>
          <a:p>
            <a:pPr rtl="0"/>
            <a:fld id="{22289C57-55D7-40A4-A101-E74FAC7A092B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fr-FR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2289C57-55D7-40A4-A101-E74FAC7A092B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2289C57-55D7-40A4-A101-E74FAC7A092B}" type="slidenum">
              <a:rPr lang="fr-FR" smtClean="0"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40438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2289C57-55D7-40A4-A101-E74FAC7A092B}" type="slidenum">
              <a:rPr lang="fr-FR" smtClean="0"/>
              <a:t>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2289C57-55D7-40A4-A101-E74FAC7A092B}" type="slidenum">
              <a:rPr lang="fr-FR" smtClean="0"/>
              <a:t>5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903241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E39DE-16D0-A413-55F9-5C7E8F53A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>
            <a:extLst>
              <a:ext uri="{FF2B5EF4-FFF2-40B4-BE49-F238E27FC236}">
                <a16:creationId xmlns:a16="http://schemas.microsoft.com/office/drawing/2014/main" id="{449D4368-0850-F8C6-1638-86CF6999A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84969EB2-5A77-856B-66F1-46C4F9CFB2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958B183-A6FF-C100-46DA-2E3A5B3698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2289C57-55D7-40A4-A101-E74FAC7A092B}" type="slidenum">
              <a:rPr lang="fr-FR" smtClean="0"/>
              <a:t>6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862582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fr-FR"/>
            </a:defPPr>
          </a:lstStyle>
          <a:p>
            <a:pPr rtl="0"/>
            <a:fld id="{22289C57-55D7-40A4-A101-E74FAC7A092B}" type="slidenum">
              <a:rPr lang="fr-FR" smtClean="0"/>
              <a:t>10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43954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rtlCol="0" anchor="ctr">
            <a:noAutofit/>
          </a:bodyPr>
          <a:lstStyle>
            <a:lvl1pPr algn="l">
              <a:defRPr lang="fr-FR" sz="3600" spc="150" baseline="0"/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rdre du jour">
    <p:bg bwMode="auto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sme 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rtlCol="0" anchor="b">
            <a:normAutofit/>
          </a:bodyPr>
          <a:lstStyle>
            <a:lvl1pPr>
              <a:defRPr lang="fr-FR" sz="2800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 rtlCol="0"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lang="fr-FR"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lang="fr-FR"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lang="fr-FR"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lang="fr-FR"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lang="fr-FR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 rtlCol="0"/>
          <a:lstStyle>
            <a:lvl1pPr algn="l">
              <a:defRPr lang="fr-FR" sz="900"/>
            </a:lvl1pPr>
          </a:lstStyle>
          <a:p>
            <a:pPr rtl="0"/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fr-FR" sz="900"/>
            </a:lvl1pPr>
          </a:lstStyle>
          <a:p>
            <a:pPr rtl="0"/>
            <a:fld id="{A49DFD55-3C28-40EF-9E31-A92D2E4017FF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ut de section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rtlCol="0" anchor="b">
            <a:noAutofit/>
          </a:bodyPr>
          <a:lstStyle>
            <a:lvl1pPr algn="l">
              <a:defRPr lang="fr-FR" sz="3600" spc="15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Connecteur droit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ut de section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rtlCol="0" anchor="b">
            <a:noAutofit/>
          </a:bodyPr>
          <a:lstStyle>
            <a:lvl1pPr algn="l">
              <a:defRPr lang="fr-FR" sz="3600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 rtlCol="0">
            <a:normAutofit/>
          </a:bodyPr>
          <a:lstStyle>
            <a:lvl1pPr marL="0" indent="0">
              <a:buNone/>
              <a:defRPr lang="fr-FR" sz="20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Cliquez sur l'icône pour ajouter une image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rtlCol="0" anchor="b">
            <a:normAutofit/>
          </a:bodyPr>
          <a:lstStyle>
            <a:lvl1pPr>
              <a:defRPr lang="fr-FR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3" name="Espace réservé du contenu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fr-FR"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ce réservé du pied de page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 rtlCol="0"/>
          <a:lstStyle>
            <a:lvl1pPr algn="l">
              <a:defRPr lang="fr-FR" sz="900"/>
            </a:lvl1pPr>
          </a:lstStyle>
          <a:p>
            <a:pPr rtl="0"/>
            <a:endParaRPr lang="fr-FR"/>
          </a:p>
        </p:txBody>
      </p: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fr-FR" sz="900"/>
            </a:lvl1pPr>
          </a:lstStyle>
          <a:p>
            <a:pPr rtl="0"/>
            <a:fld id="{A49DFD55-3C28-40EF-9E31-A92D2E4017FF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ut de section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rtlCol="0" anchor="b">
            <a:noAutofit/>
          </a:bodyPr>
          <a:lstStyle>
            <a:lvl1pPr algn="l">
              <a:defRPr lang="fr-FR" sz="3600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pic>
        <p:nvPicPr>
          <p:cNvPr id="4" name="Graphique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 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que 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rtlCol="0" anchor="b">
            <a:normAutofit/>
          </a:bodyPr>
          <a:lstStyle>
            <a:lvl1pPr>
              <a:defRPr lang="fr-FR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rtlCol="0" anchor="t">
            <a:normAutofit/>
          </a:bodyPr>
          <a:lstStyle>
            <a:lvl1pPr marL="0" indent="0">
              <a:buNone/>
              <a:defRPr lang="fr-F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fr-FR" sz="2000" b="1"/>
            </a:lvl2pPr>
            <a:lvl3pPr marL="914400" indent="0">
              <a:buNone/>
              <a:defRPr lang="fr-FR" sz="1800" b="1"/>
            </a:lvl3pPr>
            <a:lvl4pPr marL="1371600" indent="0">
              <a:buNone/>
              <a:defRPr lang="fr-FR" sz="1600" b="1"/>
            </a:lvl4pPr>
            <a:lvl5pPr marL="1828800" indent="0">
              <a:buNone/>
              <a:defRPr lang="fr-FR" sz="1600" b="1"/>
            </a:lvl5pPr>
            <a:lvl6pPr marL="2286000" indent="0">
              <a:buNone/>
              <a:defRPr lang="fr-FR" sz="1600" b="1"/>
            </a:lvl6pPr>
            <a:lvl7pPr marL="2743200" indent="0">
              <a:buNone/>
              <a:defRPr lang="fr-FR" sz="1600" b="1"/>
            </a:lvl7pPr>
            <a:lvl8pPr marL="3200400" indent="0">
              <a:buNone/>
              <a:defRPr lang="fr-FR" sz="1600" b="1"/>
            </a:lvl8pPr>
            <a:lvl9pPr marL="3657600" indent="0">
              <a:buNone/>
              <a:defRPr lang="fr-FR" sz="1600" b="1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7" name="Espace réservé du contenu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fr-FR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rtlCol="0" anchor="t">
            <a:normAutofit/>
          </a:bodyPr>
          <a:lstStyle>
            <a:lvl1pPr marL="0" indent="0">
              <a:buNone/>
              <a:defRPr lang="fr-F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fr-FR" sz="2000" b="1"/>
            </a:lvl2pPr>
            <a:lvl3pPr marL="914400" indent="0">
              <a:buNone/>
              <a:defRPr lang="fr-FR" sz="1800" b="1"/>
            </a:lvl3pPr>
            <a:lvl4pPr marL="1371600" indent="0">
              <a:buNone/>
              <a:defRPr lang="fr-FR" sz="1600" b="1"/>
            </a:lvl4pPr>
            <a:lvl5pPr marL="1828800" indent="0">
              <a:buNone/>
              <a:defRPr lang="fr-FR" sz="1600" b="1"/>
            </a:lvl5pPr>
            <a:lvl6pPr marL="2286000" indent="0">
              <a:buNone/>
              <a:defRPr lang="fr-FR" sz="1600" b="1"/>
            </a:lvl6pPr>
            <a:lvl7pPr marL="2743200" indent="0">
              <a:buNone/>
              <a:defRPr lang="fr-FR" sz="1600" b="1"/>
            </a:lvl7pPr>
            <a:lvl8pPr marL="3200400" indent="0">
              <a:buNone/>
              <a:defRPr lang="fr-FR" sz="1600" b="1"/>
            </a:lvl8pPr>
            <a:lvl9pPr marL="3657600" indent="0">
              <a:buNone/>
              <a:defRPr lang="fr-FR" sz="1600" b="1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9" name="Espace réservé du contenu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fr-FR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 rtlCol="0"/>
          <a:lstStyle>
            <a:lvl1pPr algn="l">
              <a:defRPr lang="fr-FR" sz="900"/>
            </a:lvl1pPr>
          </a:lstStyle>
          <a:p>
            <a:pPr rtl="0"/>
            <a:endParaRPr lang="fr-FR"/>
          </a:p>
        </p:txBody>
      </p:sp>
      <p:sp>
        <p:nvSpPr>
          <p:cNvPr id="14" name="Espace réservé du numéro de diapositive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fr-FR" sz="900"/>
            </a:lvl1pPr>
          </a:lstStyle>
          <a:p>
            <a:pPr rtl="0"/>
            <a:fld id="{A49DFD55-3C28-40EF-9E31-A92D2E4017FF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 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rtlCol="0" anchor="b">
            <a:normAutofit/>
          </a:bodyPr>
          <a:lstStyle>
            <a:lvl1pPr>
              <a:defRPr lang="fr-FR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Espace réservé du texte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rtlCol="0" anchor="t">
            <a:normAutofit/>
          </a:bodyPr>
          <a:lstStyle>
            <a:lvl1pPr marL="0" indent="0">
              <a:buNone/>
              <a:defRPr lang="fr-F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fr-FR" sz="2000" b="1"/>
            </a:lvl2pPr>
            <a:lvl3pPr marL="914400" indent="0">
              <a:buNone/>
              <a:defRPr lang="fr-FR" sz="1800" b="1"/>
            </a:lvl3pPr>
            <a:lvl4pPr marL="1371600" indent="0">
              <a:buNone/>
              <a:defRPr lang="fr-FR" sz="1600" b="1"/>
            </a:lvl4pPr>
            <a:lvl5pPr marL="1828800" indent="0">
              <a:buNone/>
              <a:defRPr lang="fr-FR" sz="1600" b="1"/>
            </a:lvl5pPr>
            <a:lvl6pPr marL="2286000" indent="0">
              <a:buNone/>
              <a:defRPr lang="fr-FR" sz="1600" b="1"/>
            </a:lvl6pPr>
            <a:lvl7pPr marL="2743200" indent="0">
              <a:buNone/>
              <a:defRPr lang="fr-FR" sz="1600" b="1"/>
            </a:lvl7pPr>
            <a:lvl8pPr marL="3200400" indent="0">
              <a:buNone/>
              <a:defRPr lang="fr-FR" sz="1600" b="1"/>
            </a:lvl8pPr>
            <a:lvl9pPr marL="3657600" indent="0">
              <a:buNone/>
              <a:defRPr lang="fr-FR" sz="1600" b="1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5" name="Espace réservé du contenu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 rtlCol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lang="fr-FR"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lang="fr-FR"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lang="fr-FR"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lang="fr-FR"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lang="fr-FR" sz="1800" spc="50" baseline="0"/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</p:txBody>
      </p:sp>
      <p:sp>
        <p:nvSpPr>
          <p:cNvPr id="17" name="Espace réservé du texte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rtlCol="0" anchor="t">
            <a:normAutofit/>
          </a:bodyPr>
          <a:lstStyle>
            <a:lvl1pPr marL="0" indent="0">
              <a:buNone/>
              <a:defRPr lang="fr-F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fr-FR" sz="2000" b="1"/>
            </a:lvl2pPr>
            <a:lvl3pPr marL="914400" indent="0">
              <a:buNone/>
              <a:defRPr lang="fr-FR" sz="1800" b="1"/>
            </a:lvl3pPr>
            <a:lvl4pPr marL="1371600" indent="0">
              <a:buNone/>
              <a:defRPr lang="fr-FR" sz="1600" b="1"/>
            </a:lvl4pPr>
            <a:lvl5pPr marL="1828800" indent="0">
              <a:buNone/>
              <a:defRPr lang="fr-FR" sz="1600" b="1"/>
            </a:lvl5pPr>
            <a:lvl6pPr marL="2286000" indent="0">
              <a:buNone/>
              <a:defRPr lang="fr-FR" sz="1600" b="1"/>
            </a:lvl6pPr>
            <a:lvl7pPr marL="2743200" indent="0">
              <a:buNone/>
              <a:defRPr lang="fr-FR" sz="1600" b="1"/>
            </a:lvl7pPr>
            <a:lvl8pPr marL="3200400" indent="0">
              <a:buNone/>
              <a:defRPr lang="fr-FR" sz="1600" b="1"/>
            </a:lvl8pPr>
            <a:lvl9pPr marL="3657600" indent="0">
              <a:buNone/>
              <a:defRPr lang="fr-FR" sz="1600" b="1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3" name="Espace réservé du contenu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fr-FR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19" name="Espace réservé du pied de page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 rtlCol="0"/>
          <a:lstStyle>
            <a:lvl1pPr algn="l">
              <a:defRPr lang="fr-FR" sz="900"/>
            </a:lvl1pPr>
          </a:lstStyle>
          <a:p>
            <a:pPr rtl="0"/>
            <a:endParaRPr lang="fr-FR"/>
          </a:p>
        </p:txBody>
      </p:sp>
      <p:sp>
        <p:nvSpPr>
          <p:cNvPr id="20" name="Espace réservé du numéro de diapositive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fr-FR" sz="900"/>
            </a:lvl1pPr>
          </a:lstStyle>
          <a:p>
            <a:pPr rtl="0"/>
            <a:fld id="{A49DFD55-3C28-40EF-9E31-A92D2E4017FF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ésum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r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rtlCol="0" anchor="b">
            <a:normAutofit/>
          </a:bodyPr>
          <a:lstStyle>
            <a:lvl1pPr>
              <a:defRPr lang="fr-FR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 rtlCol="0">
            <a:normAutofit/>
          </a:bodyPr>
          <a:lstStyle>
            <a:lvl1pPr marL="0" indent="0" algn="l">
              <a:buNone/>
              <a:defRPr lang="fr-FR" sz="2000">
                <a:solidFill>
                  <a:schemeClr val="tx1"/>
                </a:solidFill>
              </a:defRPr>
            </a:lvl1pPr>
          </a:lstStyle>
          <a:p>
            <a:pPr rtl="0"/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4" name="Espace réservé du pied de page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 rtlCol="0"/>
          <a:lstStyle>
            <a:lvl1pPr algn="l">
              <a:defRPr lang="fr-FR" sz="9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fr-FR" sz="900"/>
            </a:lvl1pPr>
          </a:lstStyle>
          <a:p>
            <a:pPr rtl="0"/>
            <a:fld id="{A49DFD55-3C28-40EF-9E31-A92D2E4017FF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contenu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fr-FR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 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 rtlCol="0">
            <a:normAutofit/>
          </a:bodyPr>
          <a:lstStyle>
            <a:lvl1pPr algn="l">
              <a:defRPr lang="fr-FR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3" name="Espace réservé du contenu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fr-FR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8" name="Espace réservé de table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 rtlCol="0">
            <a:normAutofit/>
          </a:bodyPr>
          <a:lstStyle>
            <a:lvl1pPr marL="0" indent="0" algn="ctr">
              <a:buNone/>
              <a:defRPr lang="fr-FR" sz="2000"/>
            </a:lvl1pPr>
          </a:lstStyle>
          <a:p>
            <a:pPr rtl="0"/>
            <a:r>
              <a:rPr lang="fr-FR"/>
              <a:t>Cliquez sur l'icône pour ajouter un tableau</a:t>
            </a:r>
            <a:endParaRPr lang="fr-FR" dirty="0"/>
          </a:p>
        </p:txBody>
      </p:sp>
      <p:sp>
        <p:nvSpPr>
          <p:cNvPr id="10" name="Espace réservé du pied de page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 rtlCol="0"/>
          <a:lstStyle>
            <a:lvl1pPr algn="l">
              <a:defRPr lang="fr-FR" sz="900"/>
            </a:lvl1pPr>
          </a:lstStyle>
          <a:p>
            <a:pPr rtl="0"/>
            <a:endParaRPr lang="fr-FR"/>
          </a:p>
        </p:txBody>
      </p:sp>
      <p:sp>
        <p:nvSpPr>
          <p:cNvPr id="11" name="Espace réservé du numéro de diapositive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fr-FR" sz="900"/>
            </a:lvl1pPr>
          </a:lstStyle>
          <a:p>
            <a:pPr rtl="0"/>
            <a:fld id="{A49DFD55-3C28-40EF-9E31-A92D2E4017FF}" type="slidenum">
              <a:rPr lang="fr-FR" smtClean="0"/>
              <a:pPr/>
              <a:t>‹N°›</a:t>
            </a:fld>
            <a:endParaRPr lang="fr-FR" dirty="0"/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rtlCol="0" anchor="b">
            <a:normAutofit/>
          </a:bodyPr>
          <a:lstStyle>
            <a:lvl1pPr>
              <a:defRPr lang="fr-FR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rtlCol="0" anchor="ctr">
            <a:noAutofit/>
          </a:bodyPr>
          <a:lstStyle>
            <a:lvl1pPr marL="0" indent="0">
              <a:buNone/>
              <a:defRPr lang="fr-F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fr-FR" sz="2000" b="1"/>
            </a:lvl2pPr>
            <a:lvl3pPr marL="914400" indent="0">
              <a:buNone/>
              <a:defRPr lang="fr-FR" sz="1800" b="1"/>
            </a:lvl3pPr>
            <a:lvl4pPr marL="1371600" indent="0">
              <a:buNone/>
              <a:defRPr lang="fr-FR" sz="1600" b="1"/>
            </a:lvl4pPr>
            <a:lvl5pPr marL="1828800" indent="0">
              <a:buNone/>
              <a:defRPr lang="fr-FR" sz="1600" b="1"/>
            </a:lvl5pPr>
            <a:lvl6pPr marL="2286000" indent="0">
              <a:buNone/>
              <a:defRPr lang="fr-FR" sz="1600" b="1"/>
            </a:lvl6pPr>
            <a:lvl7pPr marL="2743200" indent="0">
              <a:buNone/>
              <a:defRPr lang="fr-FR" sz="1600" b="1"/>
            </a:lvl7pPr>
            <a:lvl8pPr marL="3200400" indent="0">
              <a:buNone/>
              <a:defRPr lang="fr-FR" sz="1600" b="1"/>
            </a:lvl8pPr>
            <a:lvl9pPr marL="3657600" indent="0">
              <a:buNone/>
              <a:defRPr lang="fr-FR" sz="1600" b="1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fr-FR"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fr-FR"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fr-FR"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fr-FR"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lang="fr-FR" sz="1800" spc="50" baseline="0"/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rtlCol="0" anchor="ctr">
            <a:noAutofit/>
          </a:bodyPr>
          <a:lstStyle>
            <a:lvl1pPr marL="0" indent="0">
              <a:buNone/>
              <a:defRPr lang="fr-FR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lang="fr-FR" sz="2000" b="1"/>
            </a:lvl2pPr>
            <a:lvl3pPr marL="914400" indent="0">
              <a:buNone/>
              <a:defRPr lang="fr-FR" sz="1800" b="1"/>
            </a:lvl3pPr>
            <a:lvl4pPr marL="1371600" indent="0">
              <a:buNone/>
              <a:defRPr lang="fr-FR" sz="1600" b="1"/>
            </a:lvl4pPr>
            <a:lvl5pPr marL="1828800" indent="0">
              <a:buNone/>
              <a:defRPr lang="fr-FR" sz="1600" b="1"/>
            </a:lvl5pPr>
            <a:lvl6pPr marL="2286000" indent="0">
              <a:buNone/>
              <a:defRPr lang="fr-FR" sz="1600" b="1"/>
            </a:lvl6pPr>
            <a:lvl7pPr marL="2743200" indent="0">
              <a:buNone/>
              <a:defRPr lang="fr-FR" sz="1600" b="1"/>
            </a:lvl7pPr>
            <a:lvl8pPr marL="3200400" indent="0">
              <a:buNone/>
              <a:defRPr lang="fr-FR" sz="1600" b="1"/>
            </a:lvl8pPr>
            <a:lvl9pPr marL="3657600" indent="0">
              <a:buNone/>
              <a:defRPr lang="fr-FR" sz="1600" b="1"/>
            </a:lvl9pPr>
          </a:lstStyle>
          <a:p>
            <a:pPr lvl="0" rtl="0"/>
            <a:r>
              <a:rPr lang="fr-FR"/>
              <a:t>Cliquer pour ajouter du texte</a:t>
            </a:r>
          </a:p>
        </p:txBody>
      </p:sp>
      <p:sp>
        <p:nvSpPr>
          <p:cNvPr id="7" name="Espace réservé du contenu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lang="fr-FR"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1800" spc="50" baseline="0"/>
            </a:lvl5pPr>
          </a:lstStyle>
          <a:p>
            <a:pPr lvl="0" rtl="0"/>
            <a:r>
              <a:rPr lang="fr-FR"/>
              <a:t>Cliquez pour ajouter du contenu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 rtlCol="0"/>
          <a:lstStyle>
            <a:lvl1pPr algn="l">
              <a:defRPr lang="fr-FR" sz="900"/>
            </a:lvl1pPr>
          </a:lstStyle>
          <a:p>
            <a:pPr rtl="0"/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lang="fr-FR" sz="900"/>
            </a:lvl1pPr>
          </a:lstStyle>
          <a:p>
            <a:pPr rtl="0"/>
            <a:fld id="{A49DFD55-3C28-40EF-9E31-A92D2E4017FF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13" name="Graphique 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 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e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eur droit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rtlCol="0" anchor="b">
            <a:normAutofit/>
          </a:bodyPr>
          <a:lstStyle>
            <a:lvl1pPr algn="ctr">
              <a:defRPr lang="fr-FR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8" name="Espace réservé de table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 rtlCol="0">
            <a:normAutofit/>
          </a:bodyPr>
          <a:lstStyle>
            <a:lvl1pPr marL="0" indent="0" algn="ctr">
              <a:buNone/>
              <a:defRPr lang="fr-FR" sz="2000"/>
            </a:lvl1pPr>
          </a:lstStyle>
          <a:p>
            <a:pPr rtl="0"/>
            <a:r>
              <a:rPr lang="fr-FR"/>
              <a:t>Cliquez sur l'icône pour ajouter un tableau</a:t>
            </a:r>
            <a:endParaRPr lang="fr-FR" dirty="0"/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 rtlCol="0"/>
          <a:lstStyle>
            <a:lvl1pPr algn="l">
              <a:defRPr lang="fr-FR" sz="900"/>
            </a:lvl1pPr>
          </a:lstStyle>
          <a:p>
            <a:pPr rtl="0"/>
            <a:endParaRPr lang="fr-FR"/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lvl1pPr>
              <a:defRPr lang="fr-FR" sz="900"/>
            </a:lvl1pPr>
          </a:lstStyle>
          <a:p>
            <a:pPr rtl="0"/>
            <a:fld id="{A49DFD55-3C28-40EF-9E31-A92D2E4017FF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erme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lang="fr-FR" sz="3600" spc="15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fr-FR"/>
              <a:t>CLIQUEZ POUR ajouter un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lang="fr-FR"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lang="fr-FR" sz="2000"/>
            </a:lvl2pPr>
            <a:lvl3pPr marL="914400" indent="0" algn="ctr">
              <a:buNone/>
              <a:defRPr lang="fr-FR" sz="1800"/>
            </a:lvl3pPr>
            <a:lvl4pPr marL="1371600" indent="0" algn="ctr">
              <a:buNone/>
              <a:defRPr lang="fr-FR" sz="1600"/>
            </a:lvl4pPr>
            <a:lvl5pPr marL="1828800" indent="0" algn="ctr">
              <a:buNone/>
              <a:defRPr lang="fr-FR" sz="1600"/>
            </a:lvl5pPr>
            <a:lvl6pPr marL="2286000" indent="0" algn="ctr">
              <a:buNone/>
              <a:defRPr lang="fr-FR" sz="1600"/>
            </a:lvl6pPr>
            <a:lvl7pPr marL="2743200" indent="0" algn="ctr">
              <a:buNone/>
              <a:defRPr lang="fr-FR" sz="1600"/>
            </a:lvl7pPr>
            <a:lvl8pPr marL="3200400" indent="0" algn="ctr">
              <a:buNone/>
              <a:defRPr lang="fr-FR" sz="1600"/>
            </a:lvl8pPr>
            <a:lvl9pPr marL="3657600" indent="0" algn="ctr">
              <a:buNone/>
              <a:defRPr lang="fr-FR" sz="1600"/>
            </a:lvl9pPr>
          </a:lstStyle>
          <a:p>
            <a:pPr rtl="0"/>
            <a:r>
              <a:rPr lang="fr-FR"/>
              <a:t>Cliquez pour ajouter un sous-titre</a:t>
            </a:r>
          </a:p>
        </p:txBody>
      </p:sp>
      <p:pic>
        <p:nvPicPr>
          <p:cNvPr id="6" name="Graphique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Espace réservé du pied de page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 rtlCol="0"/>
          <a:lstStyle>
            <a:lvl1pPr algn="l">
              <a:defRPr lang="fr-FR" sz="900"/>
            </a:lvl1pPr>
          </a:lstStyle>
          <a:p>
            <a:pPr rtl="0"/>
            <a:endParaRPr lang="fr-FR"/>
          </a:p>
        </p:txBody>
      </p:sp>
      <p:sp>
        <p:nvSpPr>
          <p:cNvPr id="11" name="Espace réservé du numéro de diapositive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lang="fr-FR" sz="900"/>
            </a:lvl1pPr>
          </a:lstStyle>
          <a:p>
            <a:pPr rtl="0"/>
            <a:fld id="{A49DFD55-3C28-40EF-9E31-A92D2E4017FF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defPPr>
              <a:defRPr lang="fr-FR"/>
            </a:defPPr>
          </a:lstStyle>
          <a:p>
            <a:pPr rtl="0"/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fr-FR"/>
            </a:defPPr>
          </a:lstStyle>
          <a:p>
            <a:pPr lvl="0" rtl="0"/>
            <a:r>
              <a:rPr lang="fr-FR"/>
              <a:t>Modifiez les styles du texte</a:t>
            </a:r>
          </a:p>
          <a:p>
            <a:pPr lvl="1" rtl="0"/>
            <a:r>
              <a:rPr lang="fr-FR"/>
              <a:t>Deuxième niveau</a:t>
            </a:r>
          </a:p>
          <a:p>
            <a:pPr lvl="2" rtl="0"/>
            <a:r>
              <a:rPr lang="fr-FR"/>
              <a:t>Troisième niveau</a:t>
            </a:r>
          </a:p>
          <a:p>
            <a:pPr lvl="3" rtl="0"/>
            <a:r>
              <a:rPr lang="fr-FR"/>
              <a:t>Quatrième niveau</a:t>
            </a:r>
          </a:p>
          <a:p>
            <a:pPr lvl="4" rtl="0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fr-FR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fr-FR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fr-FR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A49DFD55-3C28-40EF-9E31-A92D2E4017FF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fr-FR"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fr-FR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fr-FR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5500/index.html" TargetMode="External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69086" y="1214804"/>
            <a:ext cx="5283304" cy="1948272"/>
          </a:xfrm>
        </p:spPr>
        <p:txBody>
          <a:bodyPr rtlCol="0" anchor="ctr"/>
          <a:lstStyle>
            <a:defPPr>
              <a:defRPr lang="fr-FR"/>
            </a:defPPr>
          </a:lstStyle>
          <a:p>
            <a:pPr algn="ctr"/>
            <a:r>
              <a:rPr lang="fr-FR" sz="4400" b="1" dirty="0" err="1"/>
              <a:t>Password</a:t>
            </a:r>
            <a:r>
              <a:rPr lang="fr-FR" sz="4400" b="1" dirty="0"/>
              <a:t> Strength Tester</a:t>
            </a:r>
            <a:endParaRPr lang="fr-FR" sz="4400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EDFD1E6-AF7F-FFF0-B5E1-5DF74D216C93}"/>
              </a:ext>
            </a:extLst>
          </p:cNvPr>
          <p:cNvSpPr txBox="1"/>
          <p:nvPr/>
        </p:nvSpPr>
        <p:spPr>
          <a:xfrm>
            <a:off x="345233" y="5794310"/>
            <a:ext cx="454400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Information Assurance and Security Project</a:t>
            </a:r>
          </a:p>
          <a:p>
            <a:pPr algn="ctr"/>
            <a:r>
              <a:rPr lang="fr-FR" b="1" dirty="0"/>
              <a:t>BY : Rania Mestiri (</a:t>
            </a:r>
            <a:r>
              <a:rPr lang="fr-FR" b="1" dirty="0" err="1"/>
              <a:t>Acct</a:t>
            </a:r>
            <a:r>
              <a:rPr lang="fr-FR" b="1" dirty="0"/>
              <a:t>/IT)</a:t>
            </a:r>
          </a:p>
          <a:p>
            <a:pPr algn="ctr"/>
            <a:endParaRPr lang="fr-FR" b="1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88B981A-CFA4-41B1-FA35-4A334FFA4F7A}"/>
              </a:ext>
            </a:extLst>
          </p:cNvPr>
          <p:cNvSpPr txBox="1"/>
          <p:nvPr/>
        </p:nvSpPr>
        <p:spPr>
          <a:xfrm>
            <a:off x="6908696" y="3900198"/>
            <a:ext cx="46040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- An OWASP-Based Cybersecurity Evaluation Tool -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alpha val="77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EF5859-10C9-4588-9727-B9362E26C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778" y="671805"/>
            <a:ext cx="3632719" cy="750471"/>
          </a:xfrm>
        </p:spPr>
        <p:txBody>
          <a:bodyPr rtlCol="0">
            <a:noAutofit/>
          </a:bodyPr>
          <a:lstStyle>
            <a:defPPr>
              <a:defRPr lang="fr-FR"/>
            </a:defPPr>
          </a:lstStyle>
          <a:p>
            <a:pPr rtl="0"/>
            <a:r>
              <a:rPr lang="fr-FR" sz="4400">
                <a:solidFill>
                  <a:schemeClr val="tx1"/>
                </a:solidFill>
              </a:rPr>
              <a:t>ROADMAP</a:t>
            </a:r>
            <a:endParaRPr lang="fr-FR" sz="4400" dirty="0">
              <a:solidFill>
                <a:schemeClr val="tx1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71D7E5-EF66-4BCD-8DAA-E9061157F0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630" y="1545010"/>
            <a:ext cx="3872982" cy="4454574"/>
          </a:xfrm>
        </p:spPr>
        <p:txBody>
          <a:bodyPr rtlCol="0">
            <a:noAutofit/>
          </a:bodyPr>
          <a:lstStyle>
            <a:defPPr>
              <a:defRPr lang="fr-FR"/>
            </a:defPPr>
          </a:lstStyle>
          <a:p>
            <a:pPr marL="457200" indent="-457200" rtl="0">
              <a:buFont typeface="+mj-lt"/>
              <a:buAutoNum type="arabicPeriod"/>
            </a:pPr>
            <a:r>
              <a:rPr lang="fr-FR" sz="2000" dirty="0">
                <a:solidFill>
                  <a:schemeClr val="tx1"/>
                </a:solidFill>
              </a:rPr>
              <a:t>PROBLEM INTRODUCTION</a:t>
            </a:r>
          </a:p>
          <a:p>
            <a:pPr marL="457200" indent="-457200" rtl="0">
              <a:buFont typeface="+mj-lt"/>
              <a:buAutoNum type="arabicPeriod"/>
            </a:pPr>
            <a:r>
              <a:rPr lang="fr-FR" sz="2000" dirty="0">
                <a:solidFill>
                  <a:schemeClr val="tx1"/>
                </a:solidFill>
              </a:rPr>
              <a:t>PROJECT OBJECTIVES</a:t>
            </a:r>
          </a:p>
          <a:p>
            <a:pPr marL="457200" indent="-457200" rtl="0">
              <a:buFont typeface="+mj-lt"/>
              <a:buAutoNum type="arabicPeriod"/>
            </a:pPr>
            <a:r>
              <a:rPr lang="fr-FR" sz="2000" dirty="0">
                <a:solidFill>
                  <a:schemeClr val="tx1"/>
                </a:solidFill>
              </a:rPr>
              <a:t>PASSWORD ATTACKS</a:t>
            </a:r>
          </a:p>
          <a:p>
            <a:pPr marL="457200" indent="-457200" rtl="0">
              <a:buFont typeface="+mj-lt"/>
              <a:buAutoNum type="arabicPeriod"/>
            </a:pPr>
            <a:r>
              <a:rPr lang="fr-FR" sz="2000" dirty="0">
                <a:solidFill>
                  <a:schemeClr val="tx1"/>
                </a:solidFill>
              </a:rPr>
              <a:t>SECURITY PARAMETERS</a:t>
            </a:r>
          </a:p>
          <a:p>
            <a:pPr marL="457200" indent="-457200" rtl="0">
              <a:buFont typeface="+mj-lt"/>
              <a:buAutoNum type="arabicPeriod"/>
            </a:pPr>
            <a:r>
              <a:rPr lang="fr-FR" sz="2000" dirty="0">
                <a:solidFill>
                  <a:schemeClr val="tx1"/>
                </a:solidFill>
              </a:rPr>
              <a:t>EXISTING SOLUTIONS</a:t>
            </a:r>
          </a:p>
          <a:p>
            <a:pPr marL="457200" indent="-457200" rtl="0">
              <a:buFont typeface="+mj-lt"/>
              <a:buAutoNum type="arabicPeriod"/>
            </a:pPr>
            <a:r>
              <a:rPr lang="fr-FR" sz="2000" dirty="0">
                <a:solidFill>
                  <a:schemeClr val="tx1"/>
                </a:solidFill>
              </a:rPr>
              <a:t>SYSTEM OVERVIEW</a:t>
            </a:r>
          </a:p>
          <a:p>
            <a:pPr marL="457200" indent="-457200" rtl="0">
              <a:buFont typeface="+mj-lt"/>
              <a:buAutoNum type="arabicPeriod"/>
            </a:pPr>
            <a:r>
              <a:rPr lang="fr-FR" sz="2000" dirty="0">
                <a:solidFill>
                  <a:schemeClr val="tx1"/>
                </a:solidFill>
              </a:rPr>
              <a:t>SYSTEM ARCHITECTURE</a:t>
            </a:r>
          </a:p>
          <a:p>
            <a:pPr marL="457200" indent="-457200" rtl="0">
              <a:buFont typeface="+mj-lt"/>
              <a:buAutoNum type="arabicPeriod"/>
            </a:pPr>
            <a:r>
              <a:rPr lang="fr-FR" sz="2000" dirty="0">
                <a:solidFill>
                  <a:schemeClr val="tx1"/>
                </a:solidFill>
              </a:rPr>
              <a:t>DEVELOPMENT PHASE</a:t>
            </a:r>
          </a:p>
        </p:txBody>
      </p:sp>
      <p:sp>
        <p:nvSpPr>
          <p:cNvPr id="5" name="Espace réservé du numéro de diapositive 5">
            <a:extLst>
              <a:ext uri="{FF2B5EF4-FFF2-40B4-BE49-F238E27FC236}">
                <a16:creationId xmlns:a16="http://schemas.microsoft.com/office/drawing/2014/main" id="{B02A8827-B1A1-2D2F-D6DD-E886B886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 rtlCol="0"/>
          <a:lstStyle>
            <a:defPPr>
              <a:defRPr lang="fr-FR"/>
            </a:defPPr>
          </a:lstStyle>
          <a:p>
            <a:pPr rtl="0"/>
            <a:fld id="{A49DFD55-3C28-40EF-9E31-A92D2E4017FF}" type="slidenum">
              <a:rPr lang="fr-FR" smtClean="0">
                <a:solidFill>
                  <a:schemeClr val="bg1"/>
                </a:solidFill>
              </a:rPr>
              <a:pPr/>
              <a:t>2</a:t>
            </a:fld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32195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431" y="687871"/>
            <a:ext cx="5268205" cy="1250304"/>
          </a:xfrm>
        </p:spPr>
        <p:txBody>
          <a:bodyPr rtlCol="0">
            <a:noAutofit/>
          </a:bodyPr>
          <a:lstStyle>
            <a:defPPr>
              <a:defRPr lang="fr-FR"/>
            </a:defPPr>
          </a:lstStyle>
          <a:p>
            <a:pPr rtl="0"/>
            <a:r>
              <a:rPr lang="fr-FR" sz="4000" dirty="0"/>
              <a:t>PROBLEM </a:t>
            </a:r>
            <a:br>
              <a:rPr lang="fr-FR" sz="4000" dirty="0"/>
            </a:br>
            <a:r>
              <a:rPr lang="fr-FR" sz="4000" dirty="0"/>
              <a:t>	INTRODUCTION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BF51883-F820-BAE0-A867-629749C311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8575" y="2557805"/>
            <a:ext cx="8698689" cy="3407051"/>
          </a:xfrm>
        </p:spPr>
        <p:txBody>
          <a:bodyPr>
            <a:normAutofit fontScale="92500" lnSpcReduction="20000"/>
          </a:bodyPr>
          <a:lstStyle/>
          <a:p>
            <a:r>
              <a:rPr lang="en-US" sz="2400" b="0" dirty="0"/>
              <a:t>	In today’s digital world, passwords </a:t>
            </a:r>
            <a:r>
              <a:rPr lang="fr-FR" sz="2400" b="0" dirty="0"/>
              <a:t>are the </a:t>
            </a:r>
            <a:r>
              <a:rPr lang="fr-FR" sz="2400" b="0" dirty="0" err="1"/>
              <a:t>cornerstone</a:t>
            </a:r>
            <a:r>
              <a:rPr lang="fr-FR" sz="2400" b="0" dirty="0"/>
              <a:t> of digital </a:t>
            </a:r>
            <a:r>
              <a:rPr lang="fr-FR" sz="2400" b="0" dirty="0" err="1"/>
              <a:t>security</a:t>
            </a:r>
            <a:r>
              <a:rPr lang="en-US" sz="2400" b="0" dirty="0"/>
              <a:t>, they are the </a:t>
            </a:r>
            <a:r>
              <a:rPr lang="en-US" sz="2400" dirty="0"/>
              <a:t>first line of defense </a:t>
            </a:r>
            <a:r>
              <a:rPr lang="en-US" sz="2400" b="0" dirty="0"/>
              <a:t>against unauthorized access. </a:t>
            </a:r>
          </a:p>
          <a:p>
            <a:endParaRPr lang="en-US" sz="2400" b="0" dirty="0"/>
          </a:p>
          <a:p>
            <a:r>
              <a:rPr lang="en-US" sz="2400" b="0" dirty="0"/>
              <a:t>However, weak or easy-to-guess credentials continue to be one of the </a:t>
            </a:r>
            <a:r>
              <a:rPr lang="en-US" sz="2400" dirty="0"/>
              <a:t>leading causes of security breaches</a:t>
            </a:r>
            <a:r>
              <a:rPr lang="en-US" sz="2400" b="0" dirty="0"/>
              <a:t>. </a:t>
            </a:r>
          </a:p>
          <a:p>
            <a:endParaRPr lang="en-US" sz="2400" b="0" dirty="0"/>
          </a:p>
          <a:p>
            <a:r>
              <a:rPr lang="en-US" sz="2400" b="0" dirty="0"/>
              <a:t>Many users prioritize convenience over complexity, which makes them vulnerable to attacks such as </a:t>
            </a:r>
            <a:r>
              <a:rPr lang="en-US" sz="2400" b="0" dirty="0">
                <a:solidFill>
                  <a:schemeClr val="accent5">
                    <a:lumMod val="50000"/>
                  </a:schemeClr>
                </a:solidFill>
              </a:rPr>
              <a:t>brute force</a:t>
            </a:r>
            <a:r>
              <a:rPr lang="en-US" sz="2400" b="0" dirty="0"/>
              <a:t>, </a:t>
            </a:r>
            <a:r>
              <a:rPr lang="en-US" sz="2400" b="0" dirty="0">
                <a:solidFill>
                  <a:schemeClr val="accent5">
                    <a:lumMod val="50000"/>
                  </a:schemeClr>
                </a:solidFill>
              </a:rPr>
              <a:t>dictionary</a:t>
            </a:r>
            <a:r>
              <a:rPr lang="en-US" sz="2400" b="0" dirty="0"/>
              <a:t>, </a:t>
            </a:r>
            <a:r>
              <a:rPr lang="en-US" sz="2400" b="0" dirty="0">
                <a:solidFill>
                  <a:schemeClr val="accent5">
                    <a:lumMod val="50000"/>
                  </a:schemeClr>
                </a:solidFill>
              </a:rPr>
              <a:t>credential stuffing</a:t>
            </a:r>
            <a:r>
              <a:rPr lang="en-US" sz="2400" b="0" dirty="0"/>
              <a:t>,</a:t>
            </a:r>
            <a:r>
              <a:rPr lang="en-US" sz="2400" b="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en-US" sz="2400" b="0" dirty="0"/>
              <a:t>or</a:t>
            </a:r>
            <a:r>
              <a:rPr lang="en-US" sz="2400" b="0" dirty="0">
                <a:solidFill>
                  <a:schemeClr val="accent5">
                    <a:lumMod val="50000"/>
                  </a:schemeClr>
                </a:solidFill>
              </a:rPr>
              <a:t> social engineering</a:t>
            </a:r>
            <a:r>
              <a:rPr lang="en-US" sz="2400" b="0" dirty="0"/>
              <a:t>. </a:t>
            </a:r>
            <a:endParaRPr lang="fr-FR" sz="2400" b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3BC88F-6CA5-0BF9-1F99-D1266FC54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49DFD55-3C28-40EF-9E31-A92D2E4017FF}" type="slidenum">
              <a:rPr lang="fr-FR" smtClean="0"/>
              <a:pPr rtl="0"/>
              <a:t>3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F79268AF-9BC6-4D40-2A60-D6E1D1DC3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7429" y="698760"/>
            <a:ext cx="4033313" cy="1210656"/>
          </a:xfrm>
        </p:spPr>
        <p:txBody>
          <a:bodyPr>
            <a:noAutofit/>
          </a:bodyPr>
          <a:lstStyle/>
          <a:p>
            <a:r>
              <a:rPr lang="fr-FR" sz="4000" dirty="0"/>
              <a:t>PROJECT </a:t>
            </a:r>
            <a:br>
              <a:rPr lang="fr-FR" sz="4000" dirty="0"/>
            </a:br>
            <a:r>
              <a:rPr lang="fr-FR" sz="4000" dirty="0"/>
              <a:t>	</a:t>
            </a:r>
            <a:r>
              <a:rPr lang="fr-FR" sz="4000" dirty="0" err="1"/>
              <a:t>OBJEcTIVES</a:t>
            </a:r>
            <a:endParaRPr lang="fr-FR" sz="4000" dirty="0"/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00454D30-72F3-21AF-5264-B5C73C5E6EC6}"/>
              </a:ext>
            </a:extLst>
          </p:cNvPr>
          <p:cNvSpPr txBox="1">
            <a:spLocks/>
          </p:cNvSpPr>
          <p:nvPr/>
        </p:nvSpPr>
        <p:spPr>
          <a:xfrm>
            <a:off x="678575" y="2567136"/>
            <a:ext cx="10126274" cy="3880317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fr-FR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400" dirty="0"/>
              <a:t>This </a:t>
            </a:r>
            <a:r>
              <a:rPr lang="fr-FR" sz="2400" dirty="0" err="1"/>
              <a:t>Password</a:t>
            </a:r>
            <a:r>
              <a:rPr lang="fr-FR" sz="2400" dirty="0"/>
              <a:t> Strength Tester </a:t>
            </a:r>
            <a:r>
              <a:rPr lang="fr-FR" sz="2400" dirty="0" err="1"/>
              <a:t>aims</a:t>
            </a:r>
            <a:r>
              <a:rPr lang="fr-FR" sz="2400" dirty="0"/>
              <a:t> to :</a:t>
            </a:r>
          </a:p>
          <a:p>
            <a:r>
              <a:rPr lang="fr-FR" sz="2400" dirty="0" err="1"/>
              <a:t>evaluates</a:t>
            </a:r>
            <a:r>
              <a:rPr lang="fr-FR" sz="2400" dirty="0"/>
              <a:t> how </a:t>
            </a:r>
            <a:r>
              <a:rPr lang="fr-FR" sz="2400" dirty="0" err="1"/>
              <a:t>secure</a:t>
            </a:r>
            <a:r>
              <a:rPr lang="fr-FR" sz="2400" dirty="0"/>
              <a:t> a </a:t>
            </a:r>
            <a:r>
              <a:rPr lang="fr-FR" sz="2400" dirty="0" err="1"/>
              <a:t>password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</a:t>
            </a:r>
            <a:r>
              <a:rPr lang="fr-FR" sz="2400" dirty="0" err="1"/>
              <a:t>based</a:t>
            </a:r>
            <a:r>
              <a:rPr lang="fr-FR" sz="2400" dirty="0"/>
              <a:t> on </a:t>
            </a:r>
            <a:r>
              <a:rPr lang="fr-FR" sz="2400" b="1" dirty="0">
                <a:solidFill>
                  <a:schemeClr val="accent5">
                    <a:lumMod val="50000"/>
                  </a:schemeClr>
                </a:solidFill>
              </a:rPr>
              <a:t>key </a:t>
            </a:r>
            <a:r>
              <a:rPr lang="fr-FR" sz="2400" b="1" dirty="0" err="1">
                <a:solidFill>
                  <a:schemeClr val="accent5">
                    <a:lumMod val="50000"/>
                  </a:schemeClr>
                </a:solidFill>
              </a:rPr>
              <a:t>parameters</a:t>
            </a:r>
            <a:r>
              <a:rPr lang="fr-FR" sz="2400" b="1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fr-FR" sz="2400" dirty="0"/>
              <a:t>: 	</a:t>
            </a:r>
            <a:r>
              <a:rPr lang="fr-FR" sz="2400" b="1" dirty="0" err="1"/>
              <a:t>length</a:t>
            </a:r>
            <a:r>
              <a:rPr lang="fr-FR" sz="2400" dirty="0"/>
              <a:t>, </a:t>
            </a:r>
            <a:r>
              <a:rPr lang="fr-FR" sz="2400" b="1" dirty="0" err="1"/>
              <a:t>complexity</a:t>
            </a:r>
            <a:r>
              <a:rPr lang="fr-FR" sz="2400" dirty="0"/>
              <a:t>, </a:t>
            </a:r>
            <a:r>
              <a:rPr lang="fr-FR" sz="2400" b="1" dirty="0" err="1"/>
              <a:t>entropy</a:t>
            </a:r>
            <a:r>
              <a:rPr lang="fr-FR" sz="2400" dirty="0"/>
              <a:t>, </a:t>
            </a:r>
            <a:r>
              <a:rPr lang="fr-FR" sz="2400" b="1" dirty="0"/>
              <a:t>use of </a:t>
            </a:r>
            <a:r>
              <a:rPr lang="fr-FR" sz="2400" b="1" dirty="0" err="1"/>
              <a:t>numeric</a:t>
            </a:r>
            <a:r>
              <a:rPr lang="fr-FR" sz="2400" b="1" dirty="0"/>
              <a:t> and </a:t>
            </a:r>
            <a:r>
              <a:rPr lang="fr-FR" sz="2400" b="1" dirty="0" err="1"/>
              <a:t>special</a:t>
            </a:r>
            <a:r>
              <a:rPr lang="fr-FR" sz="2400" b="1" dirty="0"/>
              <a:t> </a:t>
            </a:r>
            <a:r>
              <a:rPr lang="fr-FR" sz="2400" b="1" dirty="0" err="1"/>
              <a:t>characters</a:t>
            </a:r>
            <a:r>
              <a:rPr lang="fr-FR" sz="2400" dirty="0"/>
              <a:t>, and the </a:t>
            </a:r>
            <a:r>
              <a:rPr lang="fr-FR" sz="2400" b="1" dirty="0" err="1"/>
              <a:t>avoidance</a:t>
            </a:r>
            <a:r>
              <a:rPr lang="fr-FR" sz="2400" b="1" dirty="0"/>
              <a:t> of </a:t>
            </a:r>
            <a:r>
              <a:rPr lang="fr-FR" sz="2400" b="1" dirty="0" err="1"/>
              <a:t>personal</a:t>
            </a:r>
            <a:r>
              <a:rPr lang="fr-FR" sz="2400" b="1" dirty="0"/>
              <a:t> or </a:t>
            </a:r>
            <a:r>
              <a:rPr lang="fr-FR" sz="2400" b="1" dirty="0" err="1"/>
              <a:t>publicly</a:t>
            </a:r>
            <a:r>
              <a:rPr lang="fr-FR" sz="2400" b="1" dirty="0"/>
              <a:t> </a:t>
            </a:r>
            <a:r>
              <a:rPr lang="fr-FR" sz="2400" b="1" dirty="0" err="1"/>
              <a:t>known</a:t>
            </a:r>
            <a:r>
              <a:rPr lang="fr-FR" sz="2400" b="1" dirty="0"/>
              <a:t> information.</a:t>
            </a:r>
          </a:p>
          <a:p>
            <a:r>
              <a:rPr lang="en-US" sz="2400" dirty="0"/>
              <a:t>encourages the use of </a:t>
            </a:r>
            <a:r>
              <a:rPr lang="en-US" sz="2400" b="1" dirty="0">
                <a:solidFill>
                  <a:schemeClr val="accent5">
                    <a:lumMod val="50000"/>
                  </a:schemeClr>
                </a:solidFill>
              </a:rPr>
              <a:t>passphrases</a:t>
            </a:r>
            <a:r>
              <a:rPr lang="en-US" sz="2400" dirty="0"/>
              <a:t> which are both user-friendly and highly resistant to attacks. </a:t>
            </a:r>
          </a:p>
          <a:p>
            <a:r>
              <a:rPr lang="en-US" sz="2400" dirty="0"/>
              <a:t>provides </a:t>
            </a:r>
            <a:r>
              <a:rPr lang="en-US" sz="2400" b="1" dirty="0">
                <a:solidFill>
                  <a:schemeClr val="accent5">
                    <a:lumMod val="50000"/>
                  </a:schemeClr>
                </a:solidFill>
              </a:rPr>
              <a:t>immediate feedback </a:t>
            </a:r>
            <a:r>
              <a:rPr lang="fr-FR" sz="2400" dirty="0" err="1"/>
              <a:t>indicating</a:t>
            </a:r>
            <a:r>
              <a:rPr lang="fr-FR" sz="2400" dirty="0"/>
              <a:t> </a:t>
            </a:r>
            <a:r>
              <a:rPr lang="fr-FR" sz="2400" dirty="0" err="1"/>
              <a:t>whether</a:t>
            </a:r>
            <a:r>
              <a:rPr lang="fr-FR" sz="2400" dirty="0"/>
              <a:t> </a:t>
            </a:r>
            <a:r>
              <a:rPr lang="fr-FR" sz="2400" dirty="0" err="1"/>
              <a:t>it</a:t>
            </a:r>
            <a:r>
              <a:rPr lang="fr-FR" sz="2400" dirty="0"/>
              <a:t> </a:t>
            </a:r>
            <a:r>
              <a:rPr lang="fr-FR" sz="2400" dirty="0" err="1"/>
              <a:t>is</a:t>
            </a:r>
            <a:r>
              <a:rPr lang="fr-FR" sz="2400" dirty="0"/>
              <a:t> a </a:t>
            </a:r>
            <a:r>
              <a:rPr lang="fr-FR" sz="2400" dirty="0" err="1"/>
              <a:t>weak</a:t>
            </a:r>
            <a:r>
              <a:rPr lang="fr-FR" sz="2400" dirty="0"/>
              <a:t>, </a:t>
            </a:r>
            <a:r>
              <a:rPr lang="fr-FR" sz="2400" dirty="0" err="1"/>
              <a:t>moderate</a:t>
            </a:r>
            <a:r>
              <a:rPr lang="fr-FR" sz="2400" dirty="0"/>
              <a:t>, or </a:t>
            </a:r>
            <a:r>
              <a:rPr lang="fr-FR" sz="2400" dirty="0" err="1"/>
              <a:t>strong</a:t>
            </a:r>
            <a:r>
              <a:rPr lang="fr-FR" sz="2400" dirty="0"/>
              <a:t> </a:t>
            </a:r>
            <a:r>
              <a:rPr lang="fr-FR" sz="2400" dirty="0" err="1"/>
              <a:t>password</a:t>
            </a:r>
            <a:r>
              <a:rPr lang="fr-FR" sz="2400" dirty="0"/>
              <a:t>, </a:t>
            </a:r>
            <a:r>
              <a:rPr lang="fr-FR" sz="2400" dirty="0" err="1"/>
              <a:t>highlighting</a:t>
            </a:r>
            <a:r>
              <a:rPr lang="fr-FR" sz="2400" dirty="0"/>
              <a:t> </a:t>
            </a:r>
            <a:r>
              <a:rPr lang="fr-FR" sz="2400" dirty="0" err="1"/>
              <a:t>specific</a:t>
            </a:r>
            <a:r>
              <a:rPr lang="fr-FR" sz="2400" dirty="0"/>
              <a:t> </a:t>
            </a:r>
            <a:r>
              <a:rPr lang="fr-FR" sz="2400" dirty="0" err="1"/>
              <a:t>weaknesses</a:t>
            </a:r>
            <a:r>
              <a:rPr lang="fr-FR" sz="2400" dirty="0"/>
              <a:t> and </a:t>
            </a:r>
            <a:r>
              <a:rPr lang="fr-FR" sz="2400" dirty="0" err="1"/>
              <a:t>suggesting</a:t>
            </a:r>
            <a:r>
              <a:rPr lang="fr-FR" sz="2400" dirty="0"/>
              <a:t> </a:t>
            </a:r>
            <a:r>
              <a:rPr lang="fr-FR" sz="2400" dirty="0" err="1"/>
              <a:t>improvements</a:t>
            </a:r>
            <a:r>
              <a:rPr lang="fr-FR" sz="2400" dirty="0"/>
              <a:t>.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8212519D-481B-CB74-A81C-AD0D46DCD84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rtl="0"/>
            <a:fld id="{A49DFD55-3C28-40EF-9E31-A92D2E4017FF}" type="slidenum">
              <a:rPr lang="fr-FR" smtClean="0"/>
              <a:pPr rtl="0"/>
              <a:t>4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23496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1ED">
            <a:alpha val="77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944268F6-A361-9907-F87F-9C4377ECAE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 flipV="1">
            <a:off x="0" y="254643"/>
            <a:ext cx="6096000" cy="85576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AAAD0CD2-ED8B-F668-CD20-EFFCF5041277}"/>
              </a:ext>
            </a:extLst>
          </p:cNvPr>
          <p:cNvSpPr txBox="1"/>
          <p:nvPr/>
        </p:nvSpPr>
        <p:spPr>
          <a:xfrm>
            <a:off x="242596" y="448685"/>
            <a:ext cx="407747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PASSWORD </a:t>
            </a:r>
          </a:p>
          <a:p>
            <a:r>
              <a:rPr lang="fr-FR" sz="4000" dirty="0"/>
              <a:t>	ATTACKS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683CE18-E102-886A-3129-CD70FA8211A4}"/>
              </a:ext>
            </a:extLst>
          </p:cNvPr>
          <p:cNvSpPr txBox="1"/>
          <p:nvPr/>
        </p:nvSpPr>
        <p:spPr>
          <a:xfrm>
            <a:off x="821095" y="1966166"/>
            <a:ext cx="9386596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cap="all" dirty="0">
                <a:solidFill>
                  <a:schemeClr val="accent2">
                    <a:lumMod val="50000"/>
                  </a:schemeClr>
                </a:solidFill>
              </a:rPr>
              <a:t>Brute Force Attacks : </a:t>
            </a:r>
            <a:r>
              <a:rPr lang="en-US" sz="2000" b="1" dirty="0"/>
              <a:t>Trial &amp; Error</a:t>
            </a:r>
          </a:p>
          <a:p>
            <a:r>
              <a:rPr lang="en-US" sz="2000" dirty="0"/>
              <a:t>Attackers check every possible character combination until the key is found.</a:t>
            </a:r>
          </a:p>
          <a:p>
            <a:endParaRPr lang="en-US" sz="2000" dirty="0"/>
          </a:p>
          <a:p>
            <a:r>
              <a:rPr lang="en-US" b="1" dirty="0"/>
              <a:t>Example: </a:t>
            </a:r>
            <a:r>
              <a:rPr lang="en-US" dirty="0"/>
              <a:t>The Math of Guessing</a:t>
            </a:r>
          </a:p>
          <a:p>
            <a:r>
              <a:rPr lang="en-US" dirty="0"/>
              <a:t> </a:t>
            </a:r>
            <a:r>
              <a:rPr lang="en-US" u="sng" dirty="0"/>
              <a:t>4-Digit PIN:</a:t>
            </a:r>
            <a:r>
              <a:rPr lang="en-US" dirty="0"/>
              <a:t>  10,000 combinations. -&gt; Cracked in seconds.</a:t>
            </a:r>
          </a:p>
          <a:p>
            <a:r>
              <a:rPr lang="en-US" dirty="0"/>
              <a:t> </a:t>
            </a:r>
            <a:r>
              <a:rPr lang="en-US" u="sng" dirty="0"/>
              <a:t>12-Char (Complex):</a:t>
            </a:r>
            <a:r>
              <a:rPr lang="en-US" dirty="0"/>
              <a:t>  </a:t>
            </a:r>
            <a:r>
              <a:rPr lang="fr-FR" dirty="0" err="1"/>
              <a:t>extremely</a:t>
            </a:r>
            <a:r>
              <a:rPr lang="fr-FR" dirty="0"/>
              <a:t> large</a:t>
            </a:r>
            <a:r>
              <a:rPr lang="en-US" dirty="0"/>
              <a:t>. -&gt; Requires a year or more to crack.</a:t>
            </a:r>
          </a:p>
          <a:p>
            <a:endParaRPr lang="fr-FR" sz="2000" dirty="0"/>
          </a:p>
          <a:p>
            <a:endParaRPr lang="fr-F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FR" sz="2000" b="1" cap="all" dirty="0" err="1">
                <a:solidFill>
                  <a:schemeClr val="accent2">
                    <a:lumMod val="50000"/>
                  </a:schemeClr>
                </a:solidFill>
              </a:rPr>
              <a:t>Dictionary</a:t>
            </a:r>
            <a:r>
              <a:rPr lang="fr-FR" sz="2000" b="1" cap="all" dirty="0">
                <a:solidFill>
                  <a:schemeClr val="accent2">
                    <a:lumMod val="50000"/>
                  </a:schemeClr>
                </a:solidFill>
              </a:rPr>
              <a:t> </a:t>
            </a:r>
            <a:r>
              <a:rPr lang="fr-FR" sz="2000" b="1" cap="all" dirty="0" err="1">
                <a:solidFill>
                  <a:schemeClr val="accent2">
                    <a:lumMod val="50000"/>
                  </a:schemeClr>
                </a:solidFill>
              </a:rPr>
              <a:t>Attacks</a:t>
            </a:r>
            <a:r>
              <a:rPr lang="fr-FR" sz="2000" b="1" cap="all" dirty="0">
                <a:solidFill>
                  <a:schemeClr val="accent2">
                    <a:lumMod val="50000"/>
                  </a:schemeClr>
                </a:solidFill>
              </a:rPr>
              <a:t> : </a:t>
            </a:r>
            <a:r>
              <a:rPr lang="en-US" sz="2000" b="1" dirty="0"/>
              <a:t>Predictable Wordlists</a:t>
            </a:r>
            <a:endParaRPr lang="fr-FR" sz="2000" b="1" cap="all" dirty="0"/>
          </a:p>
          <a:p>
            <a:r>
              <a:rPr lang="fr-FR" sz="2000" dirty="0" err="1"/>
              <a:t>Attackers</a:t>
            </a:r>
            <a:r>
              <a:rPr lang="fr-FR" sz="2000" dirty="0"/>
              <a:t> use a </a:t>
            </a:r>
            <a:r>
              <a:rPr lang="fr-FR" sz="2000" dirty="0" err="1"/>
              <a:t>list</a:t>
            </a:r>
            <a:r>
              <a:rPr lang="fr-FR" sz="2000" dirty="0"/>
              <a:t> of </a:t>
            </a:r>
            <a:r>
              <a:rPr lang="en-US" sz="2000" dirty="0"/>
              <a:t>common words or leaked passwords </a:t>
            </a:r>
            <a:r>
              <a:rPr lang="fr-FR" sz="2000" dirty="0"/>
              <a:t>to </a:t>
            </a:r>
            <a:r>
              <a:rPr lang="fr-FR" sz="2000" dirty="0" err="1"/>
              <a:t>guess</a:t>
            </a:r>
            <a:r>
              <a:rPr lang="fr-FR" sz="2000" dirty="0"/>
              <a:t> the right one.</a:t>
            </a:r>
          </a:p>
          <a:p>
            <a:endParaRPr lang="fr-FR" sz="2000" dirty="0"/>
          </a:p>
          <a:p>
            <a:r>
              <a:rPr lang="en-US" b="1" dirty="0"/>
              <a:t>Example: </a:t>
            </a:r>
            <a:r>
              <a:rPr lang="en-US" dirty="0"/>
              <a:t>Pattern Permutations</a:t>
            </a:r>
          </a:p>
          <a:p>
            <a:r>
              <a:rPr lang="en-US" dirty="0"/>
              <a:t>password → P@ssw0rd!</a:t>
            </a:r>
          </a:p>
          <a:p>
            <a:r>
              <a:rPr lang="en-US" dirty="0"/>
              <a:t>admin → @dm1n_2024</a:t>
            </a:r>
          </a:p>
          <a:p>
            <a:r>
              <a:rPr lang="en-US" dirty="0"/>
              <a:t>=&gt; Reduces guessing time from years to minutes.</a:t>
            </a:r>
          </a:p>
        </p:txBody>
      </p:sp>
      <p:sp>
        <p:nvSpPr>
          <p:cNvPr id="9" name="Espace réservé du numéro de diapositive 10">
            <a:extLst>
              <a:ext uri="{FF2B5EF4-FFF2-40B4-BE49-F238E27FC236}">
                <a16:creationId xmlns:a16="http://schemas.microsoft.com/office/drawing/2014/main" id="{17C75D8C-66C9-B91C-EC42-81565B16BE9A}"/>
              </a:ext>
            </a:extLst>
          </p:cNvPr>
          <p:cNvSpPr txBox="1">
            <a:spLocks/>
          </p:cNvSpPr>
          <p:nvPr/>
        </p:nvSpPr>
        <p:spPr>
          <a:xfrm>
            <a:off x="10373350" y="6412335"/>
            <a:ext cx="987552" cy="365125"/>
          </a:xfrm>
          <a:prstGeom prst="rect">
            <a:avLst/>
          </a:prstGeom>
        </p:spPr>
        <p:txBody>
          <a:bodyPr/>
          <a:lstStyle>
            <a:defPPr rtl="0">
              <a:defRPr lang="fr-FR"/>
            </a:defPPr>
            <a:lvl1pPr marL="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A49DFD55-3C28-40EF-9E31-A92D2E4017FF}" type="slidenum">
              <a:rPr lang="fr-FR" sz="900" smtClean="0">
                <a:solidFill>
                  <a:srgbClr val="898989"/>
                </a:solidFill>
              </a:rPr>
              <a:pPr algn="r"/>
              <a:t>5</a:t>
            </a:fld>
            <a:endParaRPr lang="fr-FR" sz="900" dirty="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1459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1ED">
            <a:alpha val="77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A2C1F7-BD75-E3E9-7D27-6FACD8928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B04A9186-1BB1-3C5E-1603-F1D5C5434D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 flipV="1">
            <a:off x="0" y="254643"/>
            <a:ext cx="6096000" cy="85576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ZoneTexte 6">
            <a:extLst>
              <a:ext uri="{FF2B5EF4-FFF2-40B4-BE49-F238E27FC236}">
                <a16:creationId xmlns:a16="http://schemas.microsoft.com/office/drawing/2014/main" id="{D839A081-6373-5148-A94A-6E37ED84515A}"/>
              </a:ext>
            </a:extLst>
          </p:cNvPr>
          <p:cNvSpPr txBox="1"/>
          <p:nvPr/>
        </p:nvSpPr>
        <p:spPr>
          <a:xfrm>
            <a:off x="242596" y="448685"/>
            <a:ext cx="50945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PASSWORD </a:t>
            </a:r>
          </a:p>
          <a:p>
            <a:r>
              <a:rPr lang="fr-FR" sz="4000" dirty="0"/>
              <a:t>	ATTACKS </a:t>
            </a:r>
            <a:r>
              <a:rPr lang="fr-FR" sz="3200" dirty="0"/>
              <a:t>(</a:t>
            </a:r>
            <a:r>
              <a:rPr lang="fr-FR" sz="3200" dirty="0" err="1"/>
              <a:t>cont</a:t>
            </a:r>
            <a:r>
              <a:rPr lang="fr-FR" sz="3200" dirty="0"/>
              <a:t>.)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E82E7DE-AD84-DDDD-0E2A-02EAD039D0F1}"/>
              </a:ext>
            </a:extLst>
          </p:cNvPr>
          <p:cNvSpPr txBox="1"/>
          <p:nvPr/>
        </p:nvSpPr>
        <p:spPr>
          <a:xfrm>
            <a:off x="811763" y="1966166"/>
            <a:ext cx="96012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cap="all" dirty="0">
                <a:solidFill>
                  <a:schemeClr val="accent2">
                    <a:lumMod val="50000"/>
                  </a:schemeClr>
                </a:solidFill>
              </a:rPr>
              <a:t>Credential Stuffing : </a:t>
            </a:r>
            <a:r>
              <a:rPr lang="en-US" sz="2000" b="1" dirty="0"/>
              <a:t>The Breach Domino Effect</a:t>
            </a:r>
            <a:endParaRPr lang="en-US" sz="2000" b="1" cap="all" dirty="0"/>
          </a:p>
          <a:p>
            <a:r>
              <a:rPr lang="fr-FR" sz="2000" dirty="0" err="1"/>
              <a:t>Attackers</a:t>
            </a:r>
            <a:r>
              <a:rPr lang="fr-FR" sz="2000" dirty="0"/>
              <a:t> </a:t>
            </a:r>
            <a:r>
              <a:rPr lang="fr-FR" sz="2000" dirty="0" err="1"/>
              <a:t>reuse</a:t>
            </a:r>
            <a:r>
              <a:rPr lang="fr-FR" sz="2000" dirty="0"/>
              <a:t> </a:t>
            </a:r>
            <a:r>
              <a:rPr lang="fr-FR" sz="2000" dirty="0" err="1"/>
              <a:t>passwords</a:t>
            </a:r>
            <a:r>
              <a:rPr lang="fr-FR" sz="2000" dirty="0"/>
              <a:t> </a:t>
            </a:r>
            <a:r>
              <a:rPr lang="fr-FR" sz="2000" dirty="0" err="1"/>
              <a:t>stolen</a:t>
            </a:r>
            <a:r>
              <a:rPr lang="fr-FR" sz="2000" dirty="0"/>
              <a:t> </a:t>
            </a:r>
            <a:r>
              <a:rPr lang="fr-FR" sz="2000" dirty="0" err="1"/>
              <a:t>from</a:t>
            </a:r>
            <a:r>
              <a:rPr lang="fr-FR" sz="2000" dirty="0"/>
              <a:t> data </a:t>
            </a:r>
            <a:r>
              <a:rPr lang="fr-FR" sz="2000" dirty="0" err="1"/>
              <a:t>breaches</a:t>
            </a:r>
            <a:r>
              <a:rPr lang="fr-FR" sz="2000" dirty="0"/>
              <a:t> on </a:t>
            </a:r>
            <a:r>
              <a:rPr lang="fr-FR" sz="2000" dirty="0" err="1"/>
              <a:t>other</a:t>
            </a:r>
            <a:r>
              <a:rPr lang="fr-FR" sz="2000" dirty="0"/>
              <a:t> </a:t>
            </a:r>
            <a:r>
              <a:rPr lang="fr-FR" sz="2000" dirty="0" err="1"/>
              <a:t>websites</a:t>
            </a:r>
            <a:r>
              <a:rPr lang="fr-FR" sz="2000" dirty="0"/>
              <a:t>.</a:t>
            </a:r>
          </a:p>
          <a:p>
            <a:endParaRPr lang="en-US" sz="2000" b="1" cap="all" dirty="0"/>
          </a:p>
          <a:p>
            <a:r>
              <a:rPr lang="en-US" sz="2000" b="1" dirty="0"/>
              <a:t>Example: </a:t>
            </a:r>
            <a:r>
              <a:rPr lang="en-US" sz="2000" dirty="0"/>
              <a:t>Cross-Platform Takeover</a:t>
            </a:r>
          </a:p>
          <a:p>
            <a:r>
              <a:rPr lang="en-US" sz="2000" dirty="0"/>
              <a:t>A leaked password from one site gives access to multiple other accounts.</a:t>
            </a:r>
          </a:p>
          <a:p>
            <a:endParaRPr lang="en-US" sz="2000" dirty="0"/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000" b="1" cap="all" dirty="0">
                <a:solidFill>
                  <a:schemeClr val="accent2">
                    <a:lumMod val="50000"/>
                  </a:schemeClr>
                </a:solidFill>
              </a:rPr>
              <a:t>Social Engineering : </a:t>
            </a:r>
            <a:r>
              <a:rPr lang="en-US" sz="2000" b="1" dirty="0"/>
              <a:t>The Human Element</a:t>
            </a:r>
            <a:endParaRPr lang="fr-FR" sz="2000" b="1" cap="all" dirty="0"/>
          </a:p>
          <a:p>
            <a:r>
              <a:rPr lang="fr-FR" sz="2000" dirty="0" err="1"/>
              <a:t>Attackers</a:t>
            </a:r>
            <a:r>
              <a:rPr lang="fr-FR" sz="2000" dirty="0"/>
              <a:t> </a:t>
            </a:r>
            <a:r>
              <a:rPr lang="en-US" sz="2000" dirty="0"/>
              <a:t>manipulate users into giving up their credentials or take guesses based on </a:t>
            </a:r>
            <a:r>
              <a:rPr lang="fr-FR" sz="2000" dirty="0" err="1"/>
              <a:t>personal</a:t>
            </a:r>
            <a:r>
              <a:rPr lang="fr-FR" sz="2000" dirty="0"/>
              <a:t> information</a:t>
            </a:r>
            <a:r>
              <a:rPr lang="en-US" sz="2000" dirty="0"/>
              <a:t>.</a:t>
            </a:r>
          </a:p>
          <a:p>
            <a:br>
              <a:rPr lang="en-US" sz="2000" dirty="0"/>
            </a:br>
            <a:r>
              <a:rPr lang="en-US" sz="2000" b="1" dirty="0"/>
              <a:t>Example: </a:t>
            </a:r>
            <a:r>
              <a:rPr lang="en-US" sz="2000" dirty="0"/>
              <a:t>Intelligence Gathering</a:t>
            </a:r>
          </a:p>
          <a:p>
            <a:r>
              <a:rPr lang="en-US" sz="2000" dirty="0"/>
              <a:t>Finds your dog's name "Rex" → Rex_2015</a:t>
            </a:r>
          </a:p>
          <a:p>
            <a:r>
              <a:rPr lang="en-US" sz="2000" dirty="0"/>
              <a:t>Phishing: A fake "Password Expired" email redirects you to a malicious site.</a:t>
            </a:r>
          </a:p>
          <a:p>
            <a:endParaRPr lang="fr-FR" sz="2000" dirty="0"/>
          </a:p>
        </p:txBody>
      </p:sp>
      <p:sp>
        <p:nvSpPr>
          <p:cNvPr id="3" name="Espace réservé du numéro de diapositive 10">
            <a:extLst>
              <a:ext uri="{FF2B5EF4-FFF2-40B4-BE49-F238E27FC236}">
                <a16:creationId xmlns:a16="http://schemas.microsoft.com/office/drawing/2014/main" id="{85C4E027-3976-F28B-5C01-9231BF22FD5B}"/>
              </a:ext>
            </a:extLst>
          </p:cNvPr>
          <p:cNvSpPr txBox="1">
            <a:spLocks/>
          </p:cNvSpPr>
          <p:nvPr/>
        </p:nvSpPr>
        <p:spPr>
          <a:xfrm>
            <a:off x="10373350" y="6412335"/>
            <a:ext cx="987552" cy="365125"/>
          </a:xfrm>
          <a:prstGeom prst="rect">
            <a:avLst/>
          </a:prstGeom>
        </p:spPr>
        <p:txBody>
          <a:bodyPr/>
          <a:lstStyle>
            <a:defPPr rtl="0">
              <a:defRPr lang="fr-FR"/>
            </a:defPPr>
            <a:lvl1pPr marL="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lang="fr-FR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A49DFD55-3C28-40EF-9E31-A92D2E4017FF}" type="slidenum">
              <a:rPr lang="fr-FR" sz="900" smtClean="0">
                <a:solidFill>
                  <a:srgbClr val="898989"/>
                </a:solidFill>
              </a:rPr>
              <a:pPr algn="r"/>
              <a:t>6</a:t>
            </a:fld>
            <a:endParaRPr lang="fr-FR" sz="900" dirty="0">
              <a:solidFill>
                <a:srgbClr val="8989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52884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alpha val="77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EF44448C-5D62-37AF-189D-D66B45FA8F4A}"/>
              </a:ext>
            </a:extLst>
          </p:cNvPr>
          <p:cNvSpPr txBox="1"/>
          <p:nvPr/>
        </p:nvSpPr>
        <p:spPr>
          <a:xfrm>
            <a:off x="2818914" y="366873"/>
            <a:ext cx="578264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SECURITY PARAMETERS</a:t>
            </a:r>
          </a:p>
          <a:p>
            <a:r>
              <a:rPr lang="fr-FR" sz="2200" b="1" cap="all" dirty="0"/>
              <a:t>OWASP Evaluation </a:t>
            </a:r>
            <a:r>
              <a:rPr lang="fr-FR" sz="2200" b="1" cap="all" dirty="0" err="1"/>
              <a:t>CriteriA</a:t>
            </a:r>
            <a:endParaRPr lang="fr-FR" sz="22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292D932-75ED-6D92-F038-CECB7B34FAF0}"/>
              </a:ext>
            </a:extLst>
          </p:cNvPr>
          <p:cNvSpPr txBox="1"/>
          <p:nvPr/>
        </p:nvSpPr>
        <p:spPr>
          <a:xfrm>
            <a:off x="3659933" y="1782146"/>
            <a:ext cx="8199276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u="sng" dirty="0" err="1">
                <a:solidFill>
                  <a:schemeClr val="accent5">
                    <a:lumMod val="50000"/>
                  </a:schemeClr>
                </a:solidFill>
              </a:rPr>
              <a:t>Password</a:t>
            </a:r>
            <a:r>
              <a:rPr lang="fr-FR" sz="2000" b="1" u="sng" dirty="0">
                <a:solidFill>
                  <a:schemeClr val="accent5">
                    <a:lumMod val="50000"/>
                  </a:schemeClr>
                </a:solidFill>
              </a:rPr>
              <a:t> Strength :</a:t>
            </a:r>
            <a:r>
              <a:rPr lang="fr-FR" sz="20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fr-FR" sz="2000" dirty="0"/>
              <a:t>The </a:t>
            </a:r>
            <a:r>
              <a:rPr lang="fr-FR" sz="2000" dirty="0" err="1"/>
              <a:t>most</a:t>
            </a:r>
            <a:r>
              <a:rPr lang="fr-FR" sz="2000" dirty="0"/>
              <a:t> important key </a:t>
            </a:r>
            <a:r>
              <a:rPr lang="fr-FR" sz="2000" dirty="0" err="1"/>
              <a:t>requirements</a:t>
            </a:r>
            <a:r>
              <a:rPr lang="fr-FR" sz="2000" dirty="0"/>
              <a:t> are</a:t>
            </a:r>
          </a:p>
          <a:p>
            <a:endParaRPr lang="fr-FR" sz="2000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000" dirty="0"/>
              <a:t>Minimum </a:t>
            </a:r>
            <a:r>
              <a:rPr lang="fr-FR" sz="2000" dirty="0" err="1"/>
              <a:t>length</a:t>
            </a:r>
            <a:r>
              <a:rPr lang="fr-FR" sz="2000" dirty="0"/>
              <a:t> (8–12 </a:t>
            </a:r>
            <a:r>
              <a:rPr lang="fr-FR" sz="2000" dirty="0" err="1"/>
              <a:t>characters</a:t>
            </a:r>
            <a:r>
              <a:rPr lang="fr-FR" sz="2000" dirty="0"/>
              <a:t>)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000" dirty="0" err="1"/>
              <a:t>Uppercase</a:t>
            </a:r>
            <a:r>
              <a:rPr lang="fr-FR" sz="2000" dirty="0"/>
              <a:t> and </a:t>
            </a:r>
            <a:r>
              <a:rPr lang="fr-FR" sz="2000" dirty="0" err="1"/>
              <a:t>lowercase</a:t>
            </a:r>
            <a:r>
              <a:rPr lang="fr-FR" sz="2000" dirty="0"/>
              <a:t> </a:t>
            </a:r>
            <a:r>
              <a:rPr lang="fr-FR" sz="2000" dirty="0" err="1"/>
              <a:t>letters</a:t>
            </a:r>
            <a:r>
              <a:rPr lang="fr-FR" sz="2000" dirty="0"/>
              <a:t>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000" dirty="0"/>
              <a:t>At least one </a:t>
            </a:r>
            <a:r>
              <a:rPr lang="fr-FR" sz="2000" dirty="0" err="1"/>
              <a:t>number</a:t>
            </a:r>
            <a:r>
              <a:rPr lang="fr-FR" sz="2000" dirty="0"/>
              <a:t>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000" dirty="0"/>
              <a:t>At least one </a:t>
            </a:r>
            <a:r>
              <a:rPr lang="fr-FR" sz="2000" dirty="0" err="1"/>
              <a:t>special</a:t>
            </a:r>
            <a:r>
              <a:rPr lang="fr-FR" sz="2000" dirty="0"/>
              <a:t> </a:t>
            </a:r>
            <a:r>
              <a:rPr lang="fr-FR" sz="2000" dirty="0" err="1"/>
              <a:t>character</a:t>
            </a:r>
            <a:r>
              <a:rPr lang="fr-FR" sz="2000" dirty="0"/>
              <a:t>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000" dirty="0" err="1"/>
              <a:t>Avoid</a:t>
            </a:r>
            <a:r>
              <a:rPr lang="fr-FR" sz="2000" dirty="0"/>
              <a:t> </a:t>
            </a:r>
            <a:r>
              <a:rPr lang="fr-FR" sz="2000" dirty="0" err="1"/>
              <a:t>common</a:t>
            </a:r>
            <a:r>
              <a:rPr lang="fr-FR" sz="2000" dirty="0"/>
              <a:t> </a:t>
            </a:r>
            <a:r>
              <a:rPr lang="fr-FR" sz="2000" dirty="0" err="1"/>
              <a:t>passwords</a:t>
            </a:r>
            <a:r>
              <a:rPr lang="fr-FR" sz="2000" dirty="0"/>
              <a:t>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000" dirty="0" err="1"/>
              <a:t>Avoid</a:t>
            </a:r>
            <a:r>
              <a:rPr lang="fr-FR" sz="2000" dirty="0"/>
              <a:t> </a:t>
            </a:r>
            <a:r>
              <a:rPr lang="fr-FR" sz="2000" dirty="0" err="1"/>
              <a:t>using</a:t>
            </a:r>
            <a:r>
              <a:rPr lang="fr-FR" sz="2000" dirty="0"/>
              <a:t> </a:t>
            </a:r>
            <a:r>
              <a:rPr lang="fr-FR" sz="2000" dirty="0" err="1"/>
              <a:t>username</a:t>
            </a:r>
            <a:r>
              <a:rPr lang="fr-FR" sz="2000" dirty="0"/>
              <a:t> in the </a:t>
            </a:r>
            <a:r>
              <a:rPr lang="fr-FR" sz="2000" dirty="0" err="1"/>
              <a:t>password</a:t>
            </a:r>
            <a:endParaRPr lang="fr-FR" sz="2000" dirty="0"/>
          </a:p>
          <a:p>
            <a:endParaRPr lang="fr-FR" sz="2000" dirty="0">
              <a:solidFill>
                <a:schemeClr val="bg1"/>
              </a:solidFill>
            </a:endParaRPr>
          </a:p>
          <a:p>
            <a:r>
              <a:rPr lang="fr-FR" sz="2000" b="1" u="sng" dirty="0" err="1">
                <a:solidFill>
                  <a:schemeClr val="accent5">
                    <a:lumMod val="50000"/>
                  </a:schemeClr>
                </a:solidFill>
              </a:rPr>
              <a:t>Password</a:t>
            </a:r>
            <a:r>
              <a:rPr lang="fr-FR" sz="2000" b="1" u="sng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fr-FR" sz="2000" b="1" u="sng" dirty="0" err="1">
                <a:solidFill>
                  <a:schemeClr val="accent5">
                    <a:lumMod val="50000"/>
                  </a:schemeClr>
                </a:solidFill>
              </a:rPr>
              <a:t>Entropy</a:t>
            </a:r>
            <a:r>
              <a:rPr lang="fr-FR" sz="2000" b="1" u="sng" dirty="0">
                <a:solidFill>
                  <a:schemeClr val="accent5">
                    <a:lumMod val="50000"/>
                  </a:schemeClr>
                </a:solidFill>
              </a:rPr>
              <a:t> :</a:t>
            </a:r>
            <a:r>
              <a:rPr lang="fr-FR" sz="2000" dirty="0">
                <a:solidFill>
                  <a:schemeClr val="accent5">
                    <a:lumMod val="50000"/>
                  </a:schemeClr>
                </a:solidFill>
              </a:rPr>
              <a:t> </a:t>
            </a:r>
            <a:r>
              <a:rPr lang="fr-FR" sz="2000" dirty="0"/>
              <a:t>Measures the </a:t>
            </a:r>
            <a:r>
              <a:rPr lang="fr-FR" sz="2000" dirty="0" err="1"/>
              <a:t>unpredictability</a:t>
            </a:r>
            <a:r>
              <a:rPr lang="fr-FR" sz="2000" dirty="0"/>
              <a:t> of a </a:t>
            </a:r>
            <a:r>
              <a:rPr lang="fr-FR" sz="2000" dirty="0" err="1"/>
              <a:t>password</a:t>
            </a:r>
            <a:r>
              <a:rPr lang="fr-FR" sz="2000" dirty="0"/>
              <a:t>, </a:t>
            </a:r>
            <a:r>
              <a:rPr lang="fr-FR" sz="2000" dirty="0" err="1"/>
              <a:t>directly</a:t>
            </a:r>
            <a:r>
              <a:rPr lang="fr-FR" sz="2000" dirty="0"/>
              <a:t> </a:t>
            </a:r>
            <a:r>
              <a:rPr lang="fr-FR" sz="2000" dirty="0" err="1"/>
              <a:t>indicating</a:t>
            </a:r>
            <a:r>
              <a:rPr lang="fr-FR" sz="2000" dirty="0"/>
              <a:t> </a:t>
            </a:r>
            <a:r>
              <a:rPr lang="fr-FR" sz="2000" dirty="0" err="1"/>
              <a:t>its</a:t>
            </a:r>
            <a:r>
              <a:rPr lang="fr-FR" sz="2000" dirty="0"/>
              <a:t> </a:t>
            </a:r>
            <a:r>
              <a:rPr lang="fr-FR" sz="2000" dirty="0" err="1"/>
              <a:t>resistance</a:t>
            </a:r>
            <a:r>
              <a:rPr lang="fr-FR" sz="2000" dirty="0"/>
              <a:t> to </a:t>
            </a:r>
            <a:r>
              <a:rPr lang="fr-FR" sz="2000" dirty="0" err="1"/>
              <a:t>attacks</a:t>
            </a:r>
            <a:r>
              <a:rPr lang="fr-FR" sz="2000" dirty="0"/>
              <a:t>.</a:t>
            </a:r>
          </a:p>
          <a:p>
            <a:pPr lvl="0"/>
            <a:r>
              <a:rPr lang="fr-FR" sz="2000" dirty="0"/>
              <a:t>The more </a:t>
            </a:r>
            <a:r>
              <a:rPr lang="fr-FR" sz="2000" dirty="0" err="1"/>
              <a:t>random</a:t>
            </a:r>
            <a:r>
              <a:rPr lang="fr-FR" sz="2000" dirty="0"/>
              <a:t> a </a:t>
            </a:r>
            <a:r>
              <a:rPr lang="fr-FR" sz="2000" dirty="0" err="1"/>
              <a:t>password</a:t>
            </a:r>
            <a:r>
              <a:rPr lang="fr-FR" sz="2000" dirty="0"/>
              <a:t> </a:t>
            </a:r>
            <a:r>
              <a:rPr lang="fr-FR" sz="2000" dirty="0" err="1"/>
              <a:t>is</a:t>
            </a:r>
            <a:r>
              <a:rPr lang="fr-FR" sz="2000" dirty="0"/>
              <a:t>, the </a:t>
            </a:r>
            <a:r>
              <a:rPr lang="fr-FR" sz="2000" dirty="0" err="1"/>
              <a:t>higher</a:t>
            </a:r>
            <a:r>
              <a:rPr lang="fr-FR" sz="2000" dirty="0"/>
              <a:t> </a:t>
            </a:r>
            <a:r>
              <a:rPr lang="fr-FR" sz="2000" dirty="0" err="1"/>
              <a:t>entropy</a:t>
            </a:r>
            <a:r>
              <a:rPr lang="fr-FR" sz="2000" dirty="0"/>
              <a:t> </a:t>
            </a:r>
            <a:r>
              <a:rPr lang="fr-FR" sz="2000" dirty="0" err="1"/>
              <a:t>is</a:t>
            </a:r>
            <a:r>
              <a:rPr lang="fr-FR" sz="2000" dirty="0"/>
              <a:t>. </a:t>
            </a:r>
          </a:p>
          <a:p>
            <a:pPr lvl="0"/>
            <a:endParaRPr lang="fr-FR" sz="2000" dirty="0"/>
          </a:p>
          <a:p>
            <a:r>
              <a:rPr lang="fr-FR" sz="2000" dirty="0"/>
              <a:t>Longer combinations are harder to </a:t>
            </a:r>
            <a:r>
              <a:rPr lang="fr-FR" sz="2000" dirty="0" err="1"/>
              <a:t>guess</a:t>
            </a:r>
            <a:r>
              <a:rPr lang="fr-FR" sz="2000" dirty="0"/>
              <a:t>.</a:t>
            </a:r>
          </a:p>
          <a:p>
            <a:r>
              <a:rPr lang="fr-FR" sz="2000" dirty="0"/>
              <a:t>« MySecurepassW@987 » </a:t>
            </a:r>
            <a:r>
              <a:rPr lang="fr-FR" sz="2000" dirty="0" err="1"/>
              <a:t>compared</a:t>
            </a:r>
            <a:r>
              <a:rPr lang="fr-FR" sz="2000" dirty="0"/>
              <a:t> to « name123 ».</a:t>
            </a:r>
          </a:p>
          <a:p>
            <a:endParaRPr lang="fr-FR" sz="2000" dirty="0">
              <a:solidFill>
                <a:schemeClr val="bg1"/>
              </a:solidFill>
            </a:endParaRP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2042DD62-986B-657A-CF22-3A98BD26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49DFD55-3C28-40EF-9E31-A92D2E4017FF}" type="slidenum">
              <a:rPr lang="fr-FR" smtClean="0">
                <a:solidFill>
                  <a:schemeClr val="bg1"/>
                </a:solidFill>
              </a:rPr>
              <a:pPr rtl="0"/>
              <a:t>7</a:t>
            </a:fld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98032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4BCEB62-A0B1-835B-D517-85117A70C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0101" y="869732"/>
            <a:ext cx="7931798" cy="680737"/>
          </a:xfrm>
        </p:spPr>
        <p:txBody>
          <a:bodyPr>
            <a:normAutofit/>
          </a:bodyPr>
          <a:lstStyle/>
          <a:p>
            <a:r>
              <a:rPr lang="fr-FR" sz="4000" dirty="0"/>
              <a:t>EXISTING SOLUTIONS OVERVIEW </a:t>
            </a:r>
          </a:p>
        </p:txBody>
      </p:sp>
      <p:graphicFrame>
        <p:nvGraphicFramePr>
          <p:cNvPr id="7" name="Espace réservé du tableau 6">
            <a:extLst>
              <a:ext uri="{FF2B5EF4-FFF2-40B4-BE49-F238E27FC236}">
                <a16:creationId xmlns:a16="http://schemas.microsoft.com/office/drawing/2014/main" id="{2828C491-ABED-EE6B-25DD-5C0A4D6001EA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669504174"/>
              </p:ext>
            </p:extLst>
          </p:nvPr>
        </p:nvGraphicFramePr>
        <p:xfrm>
          <a:off x="320351" y="2214011"/>
          <a:ext cx="11551298" cy="3003332"/>
        </p:xfrm>
        <a:graphic>
          <a:graphicData uri="http://schemas.openxmlformats.org/drawingml/2006/table">
            <a:tbl>
              <a:tblPr firstRow="1" bandRow="1">
                <a:tableStyleId>{125E5076-3810-47DD-B79F-674D7AD40C01}</a:tableStyleId>
              </a:tblPr>
              <a:tblGrid>
                <a:gridCol w="2659224">
                  <a:extLst>
                    <a:ext uri="{9D8B030D-6E8A-4147-A177-3AD203B41FA5}">
                      <a16:colId xmlns:a16="http://schemas.microsoft.com/office/drawing/2014/main" val="420112249"/>
                    </a:ext>
                  </a:extLst>
                </a:gridCol>
                <a:gridCol w="2911151">
                  <a:extLst>
                    <a:ext uri="{9D8B030D-6E8A-4147-A177-3AD203B41FA5}">
                      <a16:colId xmlns:a16="http://schemas.microsoft.com/office/drawing/2014/main" val="1039460193"/>
                    </a:ext>
                  </a:extLst>
                </a:gridCol>
                <a:gridCol w="2920482">
                  <a:extLst>
                    <a:ext uri="{9D8B030D-6E8A-4147-A177-3AD203B41FA5}">
                      <a16:colId xmlns:a16="http://schemas.microsoft.com/office/drawing/2014/main" val="1629818416"/>
                    </a:ext>
                  </a:extLst>
                </a:gridCol>
                <a:gridCol w="3060441">
                  <a:extLst>
                    <a:ext uri="{9D8B030D-6E8A-4147-A177-3AD203B41FA5}">
                      <a16:colId xmlns:a16="http://schemas.microsoft.com/office/drawing/2014/main" val="562662111"/>
                    </a:ext>
                  </a:extLst>
                </a:gridCol>
              </a:tblGrid>
              <a:tr h="501197">
                <a:tc>
                  <a:txBody>
                    <a:bodyPr/>
                    <a:lstStyle/>
                    <a:p>
                      <a:pPr algn="l"/>
                      <a:r>
                        <a:rPr lang="fr-FR" sz="2000" dirty="0"/>
                        <a:t>TOOL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2000" dirty="0"/>
                        <a:t>CORE FUNCTION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2000" dirty="0"/>
                        <a:t>ADVANTAGE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2000" dirty="0"/>
                        <a:t>LIMITATION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A5A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239394"/>
                  </a:ext>
                </a:extLst>
              </a:tr>
              <a:tr h="834045">
                <a:tc>
                  <a:txBody>
                    <a:bodyPr/>
                    <a:lstStyle/>
                    <a:p>
                      <a:pPr algn="l"/>
                      <a:r>
                        <a:rPr lang="fr-FR" sz="1800" u="non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Zxcvbn</a:t>
                      </a:r>
                      <a:r>
                        <a:rPr lang="fr-FR" sz="1800" u="non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(Dropbox)</a:t>
                      </a:r>
                      <a:endParaRPr lang="fr-FR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Pattern </a:t>
                      </a:r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analysis</a:t>
                      </a:r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Accurate</a:t>
                      </a:r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 &amp; </a:t>
                      </a:r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widely</a:t>
                      </a:r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used</a:t>
                      </a:r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Requires</a:t>
                      </a:r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 large </a:t>
                      </a:r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dictionary</a:t>
                      </a:r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dataset</a:t>
                      </a:r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4110304"/>
                  </a:ext>
                </a:extLst>
              </a:tr>
              <a:tr h="834045">
                <a:tc>
                  <a:txBody>
                    <a:bodyPr/>
                    <a:lstStyle/>
                    <a:p>
                      <a:pPr algn="l"/>
                      <a:r>
                        <a:rPr lang="fr-FR" sz="1800" u="non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Kaspersky Password Checker</a:t>
                      </a:r>
                      <a:endParaRPr lang="fr-FR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3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Known</a:t>
                      </a:r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breach</a:t>
                      </a:r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 check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3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Known</a:t>
                      </a:r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leak</a:t>
                      </a:r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detection</a:t>
                      </a:r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3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Requires</a:t>
                      </a:r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 internet </a:t>
                      </a:r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connection</a:t>
                      </a:r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3F1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6946472"/>
                  </a:ext>
                </a:extLst>
              </a:tr>
              <a:tr h="834045">
                <a:tc>
                  <a:txBody>
                    <a:bodyPr/>
                    <a:lstStyle/>
                    <a:p>
                      <a:pPr algn="l"/>
                      <a:r>
                        <a:rPr lang="fr-FR" sz="1800" u="non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Bitwarden</a:t>
                      </a:r>
                      <a:r>
                        <a:rPr lang="fr-FR" sz="1800" u="non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800" u="none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Password</a:t>
                      </a:r>
                      <a:r>
                        <a:rPr lang="fr-FR" sz="1800" u="none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Tool </a:t>
                      </a:r>
                      <a:endParaRPr lang="fr-FR" u="non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Entropy</a:t>
                      </a:r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evaluation</a:t>
                      </a:r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Password</a:t>
                      </a:r>
                      <a:r>
                        <a:rPr lang="fr-FR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chemeClr val="tx1"/>
                          </a:solidFill>
                        </a:rPr>
                        <a:t>generation</a:t>
                      </a:r>
                      <a:endParaRPr lang="fr-FR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Limited </a:t>
                      </a:r>
                      <a:r>
                        <a:rPr lang="fr-FR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advanced</a:t>
                      </a:r>
                      <a:r>
                        <a:rPr lang="fr-FR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pattern </a:t>
                      </a:r>
                      <a:r>
                        <a:rPr lang="fr-FR" sz="18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analysis</a:t>
                      </a:r>
                      <a:endParaRPr lang="fr-FR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745302"/>
                  </a:ext>
                </a:extLst>
              </a:tr>
            </a:tbl>
          </a:graphicData>
        </a:graphic>
      </p:graphicFrame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3EA9B885-E057-FF6A-D13E-D1D63FDF8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49DFD55-3C28-40EF-9E31-A92D2E4017FF}" type="slidenum">
              <a:rPr lang="fr-FR" smtClean="0"/>
              <a:pPr rtl="0"/>
              <a:t>8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7068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ZoneTexte 14">
            <a:extLst>
              <a:ext uri="{FF2B5EF4-FFF2-40B4-BE49-F238E27FC236}">
                <a16:creationId xmlns:a16="http://schemas.microsoft.com/office/drawing/2014/main" id="{F90B721B-E021-FC27-42BC-7A0C0BE640BE}"/>
              </a:ext>
            </a:extLst>
          </p:cNvPr>
          <p:cNvSpPr txBox="1"/>
          <p:nvPr/>
        </p:nvSpPr>
        <p:spPr>
          <a:xfrm>
            <a:off x="503854" y="811764"/>
            <a:ext cx="47212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SYSTEM OVERVIEW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0EFA998-B559-3FC0-08F1-C75D4626C789}"/>
              </a:ext>
            </a:extLst>
          </p:cNvPr>
          <p:cNvSpPr txBox="1"/>
          <p:nvPr/>
        </p:nvSpPr>
        <p:spPr>
          <a:xfrm>
            <a:off x="671805" y="2155371"/>
            <a:ext cx="9258008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The </a:t>
            </a:r>
            <a:r>
              <a:rPr lang="fr-FR" sz="2000" dirty="0" err="1"/>
              <a:t>Password</a:t>
            </a:r>
            <a:r>
              <a:rPr lang="fr-FR" sz="2000" dirty="0"/>
              <a:t> Strength Tester :</a:t>
            </a:r>
          </a:p>
          <a:p>
            <a:r>
              <a:rPr lang="fr-FR" sz="2000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000" dirty="0" err="1"/>
              <a:t>Accepts</a:t>
            </a:r>
            <a:r>
              <a:rPr lang="fr-FR" sz="2000" dirty="0"/>
              <a:t> </a:t>
            </a:r>
            <a:r>
              <a:rPr lang="fr-FR" sz="2000" dirty="0" err="1"/>
              <a:t>username</a:t>
            </a:r>
            <a:r>
              <a:rPr lang="fr-FR" sz="2000" dirty="0"/>
              <a:t> and </a:t>
            </a:r>
            <a:r>
              <a:rPr lang="fr-FR" sz="2000" dirty="0" err="1"/>
              <a:t>password</a:t>
            </a:r>
            <a:r>
              <a:rPr lang="fr-FR" sz="2000" dirty="0"/>
              <a:t> input </a:t>
            </a:r>
            <a:r>
              <a:rPr lang="fr-FR" sz="2000" dirty="0" err="1"/>
              <a:t>from</a:t>
            </a:r>
            <a:r>
              <a:rPr lang="fr-FR" sz="2000" dirty="0"/>
              <a:t> user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000" dirty="0" err="1"/>
              <a:t>Analyzes</a:t>
            </a:r>
            <a:r>
              <a:rPr lang="fr-FR" sz="2000" dirty="0"/>
              <a:t> the </a:t>
            </a:r>
            <a:r>
              <a:rPr lang="fr-FR" sz="2000" dirty="0" err="1"/>
              <a:t>password</a:t>
            </a:r>
            <a:r>
              <a:rPr lang="fr-FR" sz="2000" dirty="0"/>
              <a:t> </a:t>
            </a:r>
            <a:r>
              <a:rPr lang="fr-FR" sz="2000" dirty="0" err="1"/>
              <a:t>entered</a:t>
            </a:r>
            <a:r>
              <a:rPr lang="fr-FR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000" dirty="0"/>
              <a:t>Checks </a:t>
            </a:r>
            <a:r>
              <a:rPr lang="fr-FR" sz="2000" dirty="0" err="1"/>
              <a:t>it</a:t>
            </a:r>
            <a:r>
              <a:rPr lang="fr-FR" sz="2000" dirty="0"/>
              <a:t> </a:t>
            </a:r>
            <a:r>
              <a:rPr lang="fr-FR" sz="2000" dirty="0" err="1"/>
              <a:t>against</a:t>
            </a:r>
            <a:r>
              <a:rPr lang="fr-FR" sz="2000" dirty="0"/>
              <a:t> a set of </a:t>
            </a:r>
            <a:r>
              <a:rPr lang="fr-FR" sz="2000" dirty="0" err="1"/>
              <a:t>predefined</a:t>
            </a:r>
            <a:r>
              <a:rPr lang="fr-FR" sz="2000" dirty="0"/>
              <a:t> </a:t>
            </a:r>
            <a:r>
              <a:rPr lang="fr-FR" sz="2000" dirty="0" err="1"/>
              <a:t>security</a:t>
            </a:r>
            <a:r>
              <a:rPr lang="fr-FR" sz="2000" dirty="0"/>
              <a:t> </a:t>
            </a:r>
            <a:r>
              <a:rPr lang="fr-FR" sz="2000" dirty="0" err="1"/>
              <a:t>rules</a:t>
            </a:r>
            <a:endParaRPr lang="fr-FR" sz="2000" dirty="0"/>
          </a:p>
          <a:p>
            <a:pPr marL="457200" indent="-457200">
              <a:buFont typeface="+mj-lt"/>
              <a:buAutoNum type="arabicPeriod"/>
            </a:pPr>
            <a:r>
              <a:rPr lang="fr-FR" sz="2000" dirty="0" err="1"/>
              <a:t>Evaluates</a:t>
            </a:r>
            <a:r>
              <a:rPr lang="fr-FR" sz="2000" dirty="0"/>
              <a:t> the </a:t>
            </a:r>
            <a:r>
              <a:rPr lang="fr-FR" sz="2000" dirty="0" err="1"/>
              <a:t>security</a:t>
            </a:r>
            <a:r>
              <a:rPr lang="fr-FR" sz="2000" dirty="0"/>
              <a:t> </a:t>
            </a:r>
            <a:r>
              <a:rPr lang="fr-FR" sz="2000" dirty="0" err="1"/>
              <a:t>level</a:t>
            </a:r>
            <a:r>
              <a:rPr lang="fr-FR" sz="2000" dirty="0"/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000" dirty="0" err="1"/>
              <a:t>Calculates</a:t>
            </a:r>
            <a:r>
              <a:rPr lang="fr-FR" sz="2000" dirty="0"/>
              <a:t> a </a:t>
            </a:r>
            <a:r>
              <a:rPr lang="fr-FR" sz="2000" dirty="0" err="1"/>
              <a:t>strength</a:t>
            </a:r>
            <a:r>
              <a:rPr lang="fr-FR" sz="2000" dirty="0"/>
              <a:t> score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000" dirty="0" err="1"/>
              <a:t>Provides</a:t>
            </a:r>
            <a:r>
              <a:rPr lang="fr-FR" sz="2000" dirty="0"/>
              <a:t> feedback : </a:t>
            </a:r>
            <a:r>
              <a:rPr lang="fr-FR" sz="2000" dirty="0" err="1"/>
              <a:t>weak</a:t>
            </a:r>
            <a:r>
              <a:rPr lang="fr-FR" sz="2000" dirty="0"/>
              <a:t>, medium, or </a:t>
            </a:r>
            <a:r>
              <a:rPr lang="fr-FR" sz="2000" dirty="0" err="1"/>
              <a:t>strong</a:t>
            </a:r>
            <a:r>
              <a:rPr lang="fr-FR" sz="2000" dirty="0"/>
              <a:t> </a:t>
            </a:r>
            <a:r>
              <a:rPr lang="fr-FR" sz="2000" dirty="0" err="1"/>
              <a:t>password</a:t>
            </a:r>
            <a:r>
              <a:rPr lang="fr-FR" sz="2000" dirty="0"/>
              <a:t>. </a:t>
            </a:r>
          </a:p>
          <a:p>
            <a:pPr marL="457200" indent="-457200">
              <a:buFont typeface="+mj-lt"/>
              <a:buAutoNum type="arabicPeriod"/>
            </a:pPr>
            <a:r>
              <a:rPr lang="fr-FR" sz="2000" dirty="0" err="1"/>
              <a:t>Sends</a:t>
            </a:r>
            <a:r>
              <a:rPr lang="fr-FR" sz="2000" dirty="0"/>
              <a:t> </a:t>
            </a:r>
            <a:r>
              <a:rPr lang="fr-FR" sz="2000" dirty="0" err="1"/>
              <a:t>tips</a:t>
            </a:r>
            <a:r>
              <a:rPr lang="fr-FR" sz="2000" dirty="0"/>
              <a:t> to </a:t>
            </a:r>
            <a:r>
              <a:rPr lang="fr-FR" sz="2000" dirty="0" err="1"/>
              <a:t>create</a:t>
            </a:r>
            <a:r>
              <a:rPr lang="fr-FR" sz="2000" dirty="0"/>
              <a:t> a </a:t>
            </a:r>
            <a:r>
              <a:rPr lang="fr-FR" sz="2000" dirty="0" err="1"/>
              <a:t>safer</a:t>
            </a:r>
            <a:r>
              <a:rPr lang="fr-FR" sz="2000" dirty="0"/>
              <a:t> </a:t>
            </a:r>
            <a:r>
              <a:rPr lang="fr-FR" sz="2000" dirty="0" err="1"/>
              <a:t>password</a:t>
            </a:r>
            <a:r>
              <a:rPr lang="fr-FR" sz="2000" dirty="0"/>
              <a:t>.</a:t>
            </a:r>
          </a:p>
          <a:p>
            <a:endParaRPr lang="fr-FR" sz="2000" dirty="0"/>
          </a:p>
          <a:p>
            <a:r>
              <a:rPr lang="fr-FR" sz="2000" dirty="0"/>
              <a:t>The goal -&gt; help </a:t>
            </a:r>
            <a:r>
              <a:rPr lang="fr-FR" sz="2000" dirty="0" err="1"/>
              <a:t>users</a:t>
            </a:r>
            <a:r>
              <a:rPr lang="fr-FR" sz="2000" dirty="0"/>
              <a:t> </a:t>
            </a:r>
            <a:r>
              <a:rPr lang="fr-FR" sz="2000" dirty="0" err="1"/>
              <a:t>understand</a:t>
            </a:r>
            <a:r>
              <a:rPr lang="fr-FR" sz="2000" dirty="0"/>
              <a:t> the </a:t>
            </a:r>
            <a:r>
              <a:rPr lang="fr-FR" sz="2000" dirty="0" err="1"/>
              <a:t>quality</a:t>
            </a:r>
            <a:r>
              <a:rPr lang="fr-FR" sz="2000" dirty="0"/>
              <a:t> of </a:t>
            </a:r>
            <a:r>
              <a:rPr lang="fr-FR" sz="2000" dirty="0" err="1"/>
              <a:t>their</a:t>
            </a:r>
            <a:r>
              <a:rPr lang="fr-FR" sz="2000" dirty="0"/>
              <a:t> </a:t>
            </a:r>
            <a:r>
              <a:rPr lang="fr-FR" sz="2000" dirty="0" err="1"/>
              <a:t>passwords</a:t>
            </a:r>
            <a:r>
              <a:rPr lang="fr-FR" sz="2000" dirty="0"/>
              <a:t> and encourage </a:t>
            </a:r>
            <a:r>
              <a:rPr lang="fr-FR" sz="2000" dirty="0" err="1"/>
              <a:t>stronger</a:t>
            </a:r>
            <a:r>
              <a:rPr lang="fr-FR" sz="2000" dirty="0"/>
              <a:t> </a:t>
            </a:r>
            <a:r>
              <a:rPr lang="fr-FR" sz="2000" dirty="0" err="1"/>
              <a:t>password</a:t>
            </a:r>
            <a:r>
              <a:rPr lang="fr-FR" sz="2000" dirty="0"/>
              <a:t> </a:t>
            </a:r>
            <a:r>
              <a:rPr lang="fr-FR" sz="2000" dirty="0" err="1"/>
              <a:t>creation</a:t>
            </a:r>
            <a:r>
              <a:rPr lang="fr-FR" sz="2000" dirty="0"/>
              <a:t>.</a:t>
            </a:r>
          </a:p>
          <a:p>
            <a:endParaRPr lang="fr-FR" sz="2000" dirty="0"/>
          </a:p>
        </p:txBody>
      </p:sp>
      <p:sp>
        <p:nvSpPr>
          <p:cNvPr id="17" name="Espace réservé du numéro de diapositive 16">
            <a:extLst>
              <a:ext uri="{FF2B5EF4-FFF2-40B4-BE49-F238E27FC236}">
                <a16:creationId xmlns:a16="http://schemas.microsoft.com/office/drawing/2014/main" id="{E16FF7EF-6011-B377-5299-A54A76BF1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49DFD55-3C28-40EF-9E31-A92D2E4017FF}" type="slidenum">
              <a:rPr lang="fr-FR" smtClean="0"/>
              <a:pPr rtl="0"/>
              <a:t>9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26756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595D1539-D59C-8B9A-5582-834C2366A6B7}"/>
              </a:ext>
            </a:extLst>
          </p:cNvPr>
          <p:cNvSpPr txBox="1"/>
          <p:nvPr/>
        </p:nvSpPr>
        <p:spPr>
          <a:xfrm>
            <a:off x="1657738" y="348917"/>
            <a:ext cx="88684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SYSTEM ARCHITECTURE COMPONENTS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C8C0B3F3-1B1A-4135-10F9-A549CEA23748}"/>
              </a:ext>
            </a:extLst>
          </p:cNvPr>
          <p:cNvSpPr txBox="1"/>
          <p:nvPr/>
        </p:nvSpPr>
        <p:spPr>
          <a:xfrm>
            <a:off x="827849" y="1690061"/>
            <a:ext cx="498167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5">
                    <a:lumMod val="50000"/>
                  </a:schemeClr>
                </a:solidFill>
              </a:rPr>
              <a:t>1/ USER INTERFACE</a:t>
            </a:r>
            <a:endParaRPr lang="fr-FR" altLang="fr-FR" sz="20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altLang="fr-FR" sz="2000" dirty="0" err="1"/>
              <a:t>Accepts</a:t>
            </a:r>
            <a:r>
              <a:rPr lang="fr-FR" altLang="fr-FR" sz="2000" dirty="0"/>
              <a:t> input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altLang="fr-FR" sz="2000" dirty="0"/>
              <a:t>Displays </a:t>
            </a:r>
            <a:r>
              <a:rPr lang="fr-FR" altLang="fr-FR" sz="2000" dirty="0" err="1"/>
              <a:t>results</a:t>
            </a:r>
            <a:r>
              <a:rPr lang="fr-FR" altLang="fr-FR" sz="2000" dirty="0"/>
              <a:t> and feedback </a:t>
            </a:r>
          </a:p>
          <a:p>
            <a:endParaRPr lang="fr-FR" sz="2000" dirty="0"/>
          </a:p>
          <a:p>
            <a:endParaRPr lang="fr-FR" sz="2000" dirty="0"/>
          </a:p>
          <a:p>
            <a:r>
              <a:rPr lang="fr-FR" sz="2000" b="1" dirty="0">
                <a:solidFill>
                  <a:schemeClr val="accent5">
                    <a:lumMod val="50000"/>
                  </a:schemeClr>
                </a:solidFill>
              </a:rPr>
              <a:t>2/ INPUT VALIDATION MODULE</a:t>
            </a:r>
            <a:endParaRPr lang="fr-FR" altLang="fr-FR" sz="20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altLang="fr-FR" sz="2000" dirty="0"/>
              <a:t>Checks </a:t>
            </a:r>
            <a:r>
              <a:rPr lang="fr-FR" altLang="fr-FR" sz="2000" dirty="0" err="1"/>
              <a:t>empty</a:t>
            </a:r>
            <a:r>
              <a:rPr lang="fr-FR" altLang="fr-FR" sz="2000" dirty="0"/>
              <a:t> </a:t>
            </a:r>
            <a:r>
              <a:rPr lang="fr-FR" altLang="fr-FR" sz="2000" dirty="0" err="1"/>
              <a:t>fields</a:t>
            </a:r>
            <a:r>
              <a:rPr lang="fr-FR" altLang="fr-FR" sz="2000" dirty="0"/>
              <a:t> &amp; input format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fr-FR" altLang="fr-FR" sz="20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fr-FR" altLang="fr-FR" sz="20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altLang="fr-FR" sz="2000" b="1" dirty="0">
                <a:solidFill>
                  <a:schemeClr val="accent5">
                    <a:lumMod val="50000"/>
                  </a:schemeClr>
                </a:solidFill>
              </a:rPr>
              <a:t>3/ PASSWORD ANALYSIS MODULE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Checks password against security rules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29E7DBD-94FC-9438-8B15-BF35E46299D2}"/>
              </a:ext>
            </a:extLst>
          </p:cNvPr>
          <p:cNvSpPr txBox="1"/>
          <p:nvPr/>
        </p:nvSpPr>
        <p:spPr>
          <a:xfrm>
            <a:off x="6535429" y="2151727"/>
            <a:ext cx="420281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dirty="0">
                <a:solidFill>
                  <a:schemeClr val="accent5">
                    <a:lumMod val="50000"/>
                  </a:schemeClr>
                </a:solidFill>
              </a:rPr>
              <a:t>4/ STRENGTH EVALUATION MODULE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000" dirty="0" err="1"/>
              <a:t>Calculates</a:t>
            </a:r>
            <a:r>
              <a:rPr lang="fr-FR" sz="2000" dirty="0"/>
              <a:t> the </a:t>
            </a:r>
            <a:r>
              <a:rPr lang="fr-FR" sz="2000" dirty="0" err="1"/>
              <a:t>strength</a:t>
            </a:r>
            <a:r>
              <a:rPr lang="fr-FR" sz="2000" dirty="0"/>
              <a:t> score  </a:t>
            </a:r>
          </a:p>
          <a:p>
            <a:endParaRPr lang="fr-FR" sz="2000" dirty="0"/>
          </a:p>
          <a:p>
            <a:endParaRPr lang="fr-FR" sz="2000" dirty="0"/>
          </a:p>
          <a:p>
            <a:r>
              <a:rPr lang="fr-FR" sz="2000" b="1" dirty="0">
                <a:solidFill>
                  <a:schemeClr val="accent5">
                    <a:lumMod val="50000"/>
                  </a:schemeClr>
                </a:solidFill>
              </a:rPr>
              <a:t>5/ FEEDBACK GENERATOR </a:t>
            </a:r>
            <a:endParaRPr lang="fr-FR" altLang="fr-FR" sz="20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altLang="fr-FR" sz="2000" dirty="0" err="1"/>
              <a:t>Sends</a:t>
            </a:r>
            <a:r>
              <a:rPr lang="fr-FR" altLang="fr-FR" sz="2000" dirty="0"/>
              <a:t> suggestions &amp; </a:t>
            </a:r>
            <a:r>
              <a:rPr lang="fr-FR" altLang="fr-FR" sz="2000" dirty="0" err="1"/>
              <a:t>improvements</a:t>
            </a:r>
            <a:r>
              <a:rPr lang="fr-FR" altLang="fr-FR" sz="2000" dirty="0"/>
              <a:t> to UI</a:t>
            </a:r>
          </a:p>
        </p:txBody>
      </p:sp>
      <p:sp>
        <p:nvSpPr>
          <p:cNvPr id="17" name="Espace réservé du numéro de diapositive 16">
            <a:extLst>
              <a:ext uri="{FF2B5EF4-FFF2-40B4-BE49-F238E27FC236}">
                <a16:creationId xmlns:a16="http://schemas.microsoft.com/office/drawing/2014/main" id="{26CB516D-4A7B-094A-3247-0FE3B2507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49DFD55-3C28-40EF-9E31-A92D2E4017FF}" type="slidenum">
              <a:rPr lang="fr-FR" smtClean="0"/>
              <a:pPr rtl="0"/>
              <a:t>10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715163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alpha val="5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9E5612FD-B9A0-E3E9-35EF-C89DE5740FF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742" t="9682" r="3994" b="6338"/>
          <a:stretch>
            <a:fillRect/>
          </a:stretch>
        </p:blipFill>
        <p:spPr bwMode="auto">
          <a:xfrm>
            <a:off x="195942" y="1567543"/>
            <a:ext cx="7758037" cy="4488024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BAE227-7C1D-8687-3855-F2AC4C7E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A49DFD55-3C28-40EF-9E31-A92D2E4017FF}" type="slidenum">
              <a:rPr lang="fr-FR" smtClean="0">
                <a:solidFill>
                  <a:schemeClr val="bg1"/>
                </a:solidFill>
              </a:rPr>
              <a:pPr rtl="0">
                <a:spcAft>
                  <a:spcPts val="600"/>
                </a:spcAft>
              </a:pPr>
              <a:t>11</a:t>
            </a:fld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A327EDC-CF16-45E1-DC4E-1A3989BC5E1B}"/>
              </a:ext>
            </a:extLst>
          </p:cNvPr>
          <p:cNvSpPr txBox="1"/>
          <p:nvPr/>
        </p:nvSpPr>
        <p:spPr>
          <a:xfrm>
            <a:off x="1199073" y="199559"/>
            <a:ext cx="54868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/>
              <a:t>ARCHITECTURE </a:t>
            </a:r>
          </a:p>
          <a:p>
            <a:r>
              <a:rPr lang="fr-FR" sz="3600" dirty="0"/>
              <a:t>			DIAGRAM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72BE3C0A-3755-D2D0-87CA-6D957657F095}"/>
              </a:ext>
            </a:extLst>
          </p:cNvPr>
          <p:cNvSpPr txBox="1"/>
          <p:nvPr/>
        </p:nvSpPr>
        <p:spPr>
          <a:xfrm>
            <a:off x="7953980" y="225440"/>
            <a:ext cx="3855498" cy="114856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3600" kern="1200" cap="all" spc="150" baseline="0" dirty="0">
                <a:latin typeface="+mj-lt"/>
                <a:ea typeface="+mj-ea"/>
                <a:cs typeface="+mj-cs"/>
              </a:rPr>
              <a:t>DATA 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3600" kern="1200" cap="all" spc="150" baseline="0" dirty="0">
                <a:latin typeface="+mj-lt"/>
                <a:ea typeface="+mj-ea"/>
                <a:cs typeface="+mj-cs"/>
              </a:rPr>
              <a:t>	EXCHANGED</a:t>
            </a:r>
          </a:p>
        </p:txBody>
      </p:sp>
      <p:graphicFrame>
        <p:nvGraphicFramePr>
          <p:cNvPr id="9" name="Tableau 8">
            <a:extLst>
              <a:ext uri="{FF2B5EF4-FFF2-40B4-BE49-F238E27FC236}">
                <a16:creationId xmlns:a16="http://schemas.microsoft.com/office/drawing/2014/main" id="{C1285BF8-4163-4438-B50E-1F042B967E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115397"/>
              </p:ext>
            </p:extLst>
          </p:nvPr>
        </p:nvGraphicFramePr>
        <p:xfrm>
          <a:off x="8106521" y="1736177"/>
          <a:ext cx="3702957" cy="4150755"/>
        </p:xfrm>
        <a:graphic>
          <a:graphicData uri="http://schemas.openxmlformats.org/drawingml/2006/table">
            <a:tbl>
              <a:tblPr firstRow="1" firstCol="1" bandRow="1">
                <a:noFill/>
                <a:tableStyleId>{5C22544A-7EE6-4342-B048-85BDC9FD1C3A}</a:tableStyleId>
              </a:tblPr>
              <a:tblGrid>
                <a:gridCol w="1803401">
                  <a:extLst>
                    <a:ext uri="{9D8B030D-6E8A-4147-A177-3AD203B41FA5}">
                      <a16:colId xmlns:a16="http://schemas.microsoft.com/office/drawing/2014/main" val="2524062482"/>
                    </a:ext>
                  </a:extLst>
                </a:gridCol>
                <a:gridCol w="1899556">
                  <a:extLst>
                    <a:ext uri="{9D8B030D-6E8A-4147-A177-3AD203B41FA5}">
                      <a16:colId xmlns:a16="http://schemas.microsoft.com/office/drawing/2014/main" val="2181333107"/>
                    </a:ext>
                  </a:extLst>
                </a:gridCol>
              </a:tblGrid>
              <a:tr h="53351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800" b="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User → UI</a:t>
                      </a:r>
                      <a:endParaRPr lang="fr-FR" sz="1800" b="0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024" marR="67024" marT="13963" marB="134048" anchor="b"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800" b="0" kern="100" cap="none" spc="0" dirty="0" err="1">
                          <a:solidFill>
                            <a:schemeClr val="tx1"/>
                          </a:solidFill>
                          <a:effectLst/>
                        </a:rPr>
                        <a:t>Username</a:t>
                      </a:r>
                      <a:r>
                        <a:rPr lang="fr-FR" sz="1800" b="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fr-FR" sz="1800" b="0" kern="100" cap="none" spc="0" dirty="0" err="1">
                          <a:solidFill>
                            <a:schemeClr val="tx1"/>
                          </a:solidFill>
                          <a:effectLst/>
                        </a:rPr>
                        <a:t>Password</a:t>
                      </a:r>
                      <a:endParaRPr lang="fr-FR" sz="1800" b="0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024" marR="67024" marT="13963" marB="134048" anchor="b"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6823018"/>
                  </a:ext>
                </a:extLst>
              </a:tr>
              <a:tr h="53351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800" b="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UI → Validation</a:t>
                      </a:r>
                      <a:endParaRPr lang="fr-FR" sz="1800" b="0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024" marR="67024" marT="13963" marB="134048" anchor="ctr"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8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Input data</a:t>
                      </a:r>
                      <a:endParaRPr lang="fr-FR" sz="1800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024" marR="67024" marT="13963" marB="134048" anchor="ctr"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5191191"/>
                  </a:ext>
                </a:extLst>
              </a:tr>
              <a:tr h="53351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800" b="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Validation → </a:t>
                      </a:r>
                      <a:r>
                        <a:rPr lang="fr-FR" sz="1800" b="0" kern="100" cap="none" spc="0" dirty="0" err="1">
                          <a:solidFill>
                            <a:schemeClr val="tx1"/>
                          </a:solidFill>
                          <a:effectLst/>
                        </a:rPr>
                        <a:t>Analysis</a:t>
                      </a:r>
                      <a:endParaRPr lang="fr-FR" sz="1800" b="0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024" marR="67024" marT="13963" marB="134048" anchor="ctr"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800" kern="100" cap="none" spc="0" dirty="0" err="1">
                          <a:solidFill>
                            <a:schemeClr val="tx1"/>
                          </a:solidFill>
                          <a:effectLst/>
                        </a:rPr>
                        <a:t>Password</a:t>
                      </a:r>
                      <a:r>
                        <a:rPr lang="fr-FR" sz="18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endParaRPr lang="fr-FR" sz="1800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024" marR="67024" marT="13963" marB="134048" anchor="ctr"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788668"/>
                  </a:ext>
                </a:extLst>
              </a:tr>
              <a:tr h="53351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800" b="0" kern="100" cap="none" spc="0" dirty="0" err="1">
                          <a:solidFill>
                            <a:schemeClr val="tx1"/>
                          </a:solidFill>
                          <a:effectLst/>
                        </a:rPr>
                        <a:t>Analysis</a:t>
                      </a:r>
                      <a:r>
                        <a:rPr lang="fr-FR" sz="1800" b="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 → Evaluation</a:t>
                      </a:r>
                      <a:endParaRPr lang="fr-FR" sz="1800" b="0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024" marR="67024" marT="13963" marB="134048" anchor="ctr"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8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Security </a:t>
                      </a:r>
                      <a:r>
                        <a:rPr lang="fr-FR" sz="1800" kern="100" cap="none" spc="0" dirty="0" err="1">
                          <a:solidFill>
                            <a:schemeClr val="tx1"/>
                          </a:solidFill>
                          <a:effectLst/>
                        </a:rPr>
                        <a:t>rules</a:t>
                      </a:r>
                      <a:r>
                        <a:rPr lang="fr-FR" sz="18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fr-FR" sz="1800" kern="100" cap="none" spc="0" dirty="0" err="1">
                          <a:solidFill>
                            <a:schemeClr val="tx1"/>
                          </a:solidFill>
                          <a:effectLst/>
                        </a:rPr>
                        <a:t>results</a:t>
                      </a:r>
                      <a:endParaRPr lang="fr-FR" sz="1800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024" marR="67024" marT="13963" marB="134048" anchor="ctr"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455038"/>
                  </a:ext>
                </a:extLst>
              </a:tr>
              <a:tr h="53351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800" b="0" kern="100" cap="none" spc="0">
                          <a:solidFill>
                            <a:schemeClr val="tx1"/>
                          </a:solidFill>
                          <a:effectLst/>
                        </a:rPr>
                        <a:t>Evaluation → Feedback</a:t>
                      </a:r>
                      <a:endParaRPr lang="fr-FR" sz="1800" b="0" kern="1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024" marR="67024" marT="13963" marB="134048" anchor="ctr"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8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Strength score</a:t>
                      </a:r>
                      <a:endParaRPr lang="fr-FR" sz="1800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024" marR="67024" marT="13963" marB="134048" anchor="ctr"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033434"/>
                  </a:ext>
                </a:extLst>
              </a:tr>
              <a:tr h="53351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800" b="0" kern="100" cap="none" spc="0">
                          <a:solidFill>
                            <a:schemeClr val="tx1"/>
                          </a:solidFill>
                          <a:effectLst/>
                        </a:rPr>
                        <a:t>Feedback → UI</a:t>
                      </a:r>
                      <a:endParaRPr lang="fr-FR" sz="1800" b="0" kern="100" cap="none" spc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024" marR="67024" marT="13963" marB="134048" anchor="ctr"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22860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r-FR" sz="1800" kern="100" cap="none" spc="0" dirty="0">
                          <a:solidFill>
                            <a:schemeClr val="tx1"/>
                          </a:solidFill>
                          <a:effectLst/>
                        </a:rPr>
                        <a:t>Result / suggestions</a:t>
                      </a:r>
                      <a:endParaRPr lang="fr-FR" sz="1800" kern="100" cap="none" spc="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024" marR="67024" marT="13963" marB="134048" anchor="ctr">
                    <a:lnL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46038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89731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0D8C9F4-0743-8B45-2AA2-FF2B0FF36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49DFD55-3C28-40EF-9E31-A92D2E4017FF}" type="slidenum">
              <a:rPr lang="fr-FR" smtClean="0"/>
              <a:pPr rtl="0"/>
              <a:t>12</a:t>
            </a:fld>
            <a:endParaRPr lang="fr-FR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B2A1FB8-73EB-1CFB-A858-1DF0F8691576}"/>
              </a:ext>
            </a:extLst>
          </p:cNvPr>
          <p:cNvSpPr txBox="1"/>
          <p:nvPr/>
        </p:nvSpPr>
        <p:spPr>
          <a:xfrm>
            <a:off x="702906" y="364992"/>
            <a:ext cx="5467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000" dirty="0"/>
              <a:t>DEVELOPMENT PHASE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EFB8EAF-7B5E-20D8-EA2D-8EBB06A2B12B}"/>
              </a:ext>
            </a:extLst>
          </p:cNvPr>
          <p:cNvSpPr txBox="1"/>
          <p:nvPr/>
        </p:nvSpPr>
        <p:spPr>
          <a:xfrm>
            <a:off x="702905" y="1072878"/>
            <a:ext cx="9512657" cy="558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71550" lvl="1" indent="-514350">
              <a:lnSpc>
                <a:spcPct val="150000"/>
              </a:lnSpc>
              <a:buFont typeface="+mj-lt"/>
              <a:buAutoNum type="romanLcPeriod"/>
            </a:pPr>
            <a:r>
              <a:rPr lang="fr-FR" sz="2000" b="1" dirty="0" err="1"/>
              <a:t>Requirement</a:t>
            </a:r>
            <a:r>
              <a:rPr lang="fr-FR" sz="2000" b="1" dirty="0"/>
              <a:t> </a:t>
            </a:r>
            <a:r>
              <a:rPr lang="fr-FR" sz="2000" b="1" dirty="0" err="1"/>
              <a:t>Analysis</a:t>
            </a:r>
            <a:r>
              <a:rPr lang="fr-FR" sz="2000" b="1" dirty="0"/>
              <a:t> : </a:t>
            </a:r>
            <a:r>
              <a:rPr lang="fr-FR" sz="2000" dirty="0" err="1"/>
              <a:t>Defining</a:t>
            </a:r>
            <a:r>
              <a:rPr lang="fr-FR" sz="2000" dirty="0"/>
              <a:t> </a:t>
            </a:r>
            <a:r>
              <a:rPr lang="fr-FR" sz="2000" dirty="0" err="1"/>
              <a:t>project</a:t>
            </a:r>
            <a:r>
              <a:rPr lang="fr-FR" sz="2000" dirty="0"/>
              <a:t> objectives, concepts, and the </a:t>
            </a:r>
            <a:r>
              <a:rPr lang="fr-FR" sz="2000" dirty="0" err="1"/>
              <a:t>security</a:t>
            </a:r>
            <a:r>
              <a:rPr lang="fr-FR" sz="2000" dirty="0"/>
              <a:t> </a:t>
            </a:r>
            <a:r>
              <a:rPr lang="fr-FR" sz="2000" dirty="0" err="1"/>
              <a:t>requirements</a:t>
            </a:r>
            <a:r>
              <a:rPr lang="fr-FR" sz="2000" dirty="0"/>
              <a:t>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romanLcPeriod"/>
            </a:pPr>
            <a:endParaRPr lang="fr-FR" sz="2000" dirty="0"/>
          </a:p>
          <a:p>
            <a:pPr marL="971550" lvl="1" indent="-514350">
              <a:lnSpc>
                <a:spcPct val="150000"/>
              </a:lnSpc>
              <a:buFont typeface="+mj-lt"/>
              <a:buAutoNum type="romanLcPeriod"/>
            </a:pPr>
            <a:r>
              <a:rPr lang="fr-FR" sz="2000" b="1" dirty="0"/>
              <a:t>System Design : </a:t>
            </a:r>
            <a:r>
              <a:rPr lang="fr-FR" sz="2000" dirty="0"/>
              <a:t>Setting the main components of the system architecture and the data flow.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romanLcPeriod"/>
            </a:pPr>
            <a:endParaRPr lang="fr-FR" sz="2000" dirty="0"/>
          </a:p>
          <a:p>
            <a:pPr marL="971550" lvl="1" indent="-514350">
              <a:lnSpc>
                <a:spcPct val="150000"/>
              </a:lnSpc>
              <a:buFont typeface="+mj-lt"/>
              <a:buAutoNum type="romanLcPeriod"/>
            </a:pPr>
            <a:r>
              <a:rPr lang="fr-FR" sz="2000" b="1" dirty="0" err="1"/>
              <a:t>Implementation</a:t>
            </a:r>
            <a:r>
              <a:rPr lang="fr-FR" sz="2000" b="1" dirty="0"/>
              <a:t> : </a:t>
            </a:r>
            <a:r>
              <a:rPr lang="fr-FR" sz="2000" dirty="0" err="1"/>
              <a:t>Developing</a:t>
            </a:r>
            <a:r>
              <a:rPr lang="fr-FR" sz="2000" dirty="0"/>
              <a:t> the web-</a:t>
            </a:r>
            <a:r>
              <a:rPr lang="fr-FR" sz="2000" dirty="0" err="1"/>
              <a:t>based</a:t>
            </a:r>
            <a:r>
              <a:rPr lang="fr-FR" sz="2000" dirty="0"/>
              <a:t> application.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romanLcPeriod"/>
            </a:pPr>
            <a:endParaRPr lang="fr-FR" sz="2000" dirty="0"/>
          </a:p>
          <a:p>
            <a:pPr marL="971550" lvl="1" indent="-514350">
              <a:lnSpc>
                <a:spcPct val="150000"/>
              </a:lnSpc>
              <a:buFont typeface="+mj-lt"/>
              <a:buAutoNum type="romanLcPeriod"/>
            </a:pPr>
            <a:r>
              <a:rPr lang="fr-FR" sz="2000" b="1" dirty="0" err="1"/>
              <a:t>Testing</a:t>
            </a:r>
            <a:r>
              <a:rPr lang="fr-FR" sz="2000" b="1" dirty="0"/>
              <a:t> : </a:t>
            </a:r>
            <a:r>
              <a:rPr lang="fr-FR" sz="2000" dirty="0" err="1"/>
              <a:t>Verifying</a:t>
            </a:r>
            <a:r>
              <a:rPr lang="fr-FR" sz="2000" dirty="0"/>
              <a:t> </a:t>
            </a:r>
            <a:r>
              <a:rPr lang="fr-FR" sz="2000" dirty="0" err="1"/>
              <a:t>password</a:t>
            </a:r>
            <a:r>
              <a:rPr lang="fr-FR" sz="2000" dirty="0"/>
              <a:t> </a:t>
            </a:r>
            <a:r>
              <a:rPr lang="fr-FR" sz="2000" dirty="0" err="1"/>
              <a:t>evaluation</a:t>
            </a:r>
            <a:r>
              <a:rPr lang="fr-FR" sz="2000" dirty="0"/>
              <a:t> </a:t>
            </a:r>
            <a:r>
              <a:rPr lang="fr-FR" sz="2000" dirty="0" err="1"/>
              <a:t>logic</a:t>
            </a:r>
            <a:r>
              <a:rPr lang="fr-FR" sz="2000" dirty="0"/>
              <a:t> and </a:t>
            </a:r>
            <a:r>
              <a:rPr lang="fr-FR" sz="2000" dirty="0" err="1"/>
              <a:t>accuracy</a:t>
            </a:r>
            <a:r>
              <a:rPr lang="fr-FR" sz="2000" dirty="0"/>
              <a:t>.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romanLcPeriod"/>
            </a:pPr>
            <a:endParaRPr lang="fr-FR" sz="2000" dirty="0"/>
          </a:p>
          <a:p>
            <a:pPr marL="971550" lvl="1" indent="-514350">
              <a:lnSpc>
                <a:spcPct val="150000"/>
              </a:lnSpc>
              <a:buFont typeface="+mj-lt"/>
              <a:buAutoNum type="romanLcPeriod"/>
            </a:pPr>
            <a:r>
              <a:rPr lang="fr-FR" sz="2000" b="1" dirty="0" err="1"/>
              <a:t>Deployment</a:t>
            </a:r>
            <a:r>
              <a:rPr lang="fr-FR" sz="2000" b="1" dirty="0"/>
              <a:t> and Documentation : </a:t>
            </a:r>
            <a:r>
              <a:rPr lang="fr-FR" sz="2000" dirty="0" err="1"/>
              <a:t>Uploading</a:t>
            </a:r>
            <a:r>
              <a:rPr lang="fr-FR" sz="2000" dirty="0"/>
              <a:t> </a:t>
            </a:r>
            <a:r>
              <a:rPr lang="fr-FR" sz="2000" dirty="0" err="1"/>
              <a:t>project</a:t>
            </a:r>
            <a:r>
              <a:rPr lang="fr-FR" sz="2000" dirty="0"/>
              <a:t> files and documents on GitHub.</a:t>
            </a:r>
          </a:p>
        </p:txBody>
      </p:sp>
    </p:spTree>
    <p:extLst>
      <p:ext uri="{BB962C8B-B14F-4D97-AF65-F5344CB8AC3E}">
        <p14:creationId xmlns:p14="http://schemas.microsoft.com/office/powerpoint/2010/main" val="1550697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ZoneTexte 10">
            <a:extLst>
              <a:ext uri="{FF2B5EF4-FFF2-40B4-BE49-F238E27FC236}">
                <a16:creationId xmlns:a16="http://schemas.microsoft.com/office/drawing/2014/main" id="{3CECE3C3-1A90-D684-69FA-CF2F3D6E42DC}"/>
              </a:ext>
            </a:extLst>
          </p:cNvPr>
          <p:cNvSpPr txBox="1"/>
          <p:nvPr/>
        </p:nvSpPr>
        <p:spPr>
          <a:xfrm>
            <a:off x="3617046" y="1914928"/>
            <a:ext cx="4957901" cy="54265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000" kern="1200" cap="all" spc="150" baseline="0" dirty="0">
                <a:latin typeface="+mj-lt"/>
                <a:ea typeface="+mj-ea"/>
                <a:cs typeface="+mj-cs"/>
              </a:rPr>
              <a:t>Application Demo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8CC9EE1-9369-2D52-825A-9A3F30CC6F6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A49DFD55-3C28-40EF-9E31-A92D2E4017FF}" type="slidenum">
              <a:rPr lang="fr-FR" smtClean="0"/>
              <a:pPr>
                <a:spcAft>
                  <a:spcPts val="600"/>
                </a:spcAft>
              </a:pPr>
              <a:t>13</a:t>
            </a:fld>
            <a:endParaRPr lang="fr-FR"/>
          </a:p>
        </p:txBody>
      </p:sp>
      <p:pic>
        <p:nvPicPr>
          <p:cNvPr id="17" name="Graphique 16" descr="Flèches de chevron avec un remplissage uni">
            <a:extLst>
              <a:ext uri="{FF2B5EF4-FFF2-40B4-BE49-F238E27FC236}">
                <a16:creationId xmlns:a16="http://schemas.microsoft.com/office/drawing/2014/main" id="{EDD3C3FD-56C5-C372-F8B9-1390178514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38798" y="2971800"/>
            <a:ext cx="914400" cy="914400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id="{1EF9B1E6-5252-0BDD-B262-9D7F46D5EB1A}"/>
              </a:ext>
            </a:extLst>
          </p:cNvPr>
          <p:cNvSpPr txBox="1"/>
          <p:nvPr/>
        </p:nvSpPr>
        <p:spPr>
          <a:xfrm>
            <a:off x="4407514" y="4400415"/>
            <a:ext cx="3376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hlinkClick r:id="rId3"/>
              </a:rPr>
              <a:t>http://127.0.0.1:5500/index.html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83386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57615B27-43C3-F199-5FB5-61D0C386ECE2}"/>
              </a:ext>
            </a:extLst>
          </p:cNvPr>
          <p:cNvSpPr txBox="1"/>
          <p:nvPr/>
        </p:nvSpPr>
        <p:spPr>
          <a:xfrm>
            <a:off x="4135120" y="3149084"/>
            <a:ext cx="3921760" cy="55983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fr-FR" sz="4000" b="1" kern="1200" cap="all" spc="150" baseline="0">
                <a:latin typeface="+mj-lt"/>
                <a:ea typeface="+mj-ea"/>
                <a:cs typeface="+mj-cs"/>
              </a:rPr>
              <a:t>- THANK YOU -</a:t>
            </a:r>
          </a:p>
        </p:txBody>
      </p:sp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C3BA43EF-0A74-9E68-300C-267007252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pPr rtl="0">
              <a:spcAft>
                <a:spcPts val="600"/>
              </a:spcAft>
            </a:pPr>
            <a:fld id="{A49DFD55-3C28-40EF-9E31-A92D2E4017FF}" type="slidenum">
              <a:rPr lang="fr-FR" smtClean="0"/>
              <a:pPr rtl="0">
                <a:spcAft>
                  <a:spcPts val="600"/>
                </a:spcAft>
              </a:pPr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937993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977037_TF67328976_Win32" id="{E569B7C3-0BA4-406D-9BE9-5B461807E327}" vid="{D812BBC8-2D47-4B93-9C83-8DFFBCA5816C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{D7FDC5D3-9544-41EC-A7B9-07A013618301}TF7521aafa-c748-4c40-a498-ba511be234dc9be095fc_win32-9da552dfceaf</Template>
  <TotalTime>1041</TotalTime>
  <Words>787</Words>
  <Application>Microsoft Office PowerPoint</Application>
  <PresentationFormat>Grand écran</PresentationFormat>
  <Paragraphs>166</Paragraphs>
  <Slides>14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Tenorite</vt:lpstr>
      <vt:lpstr>Wingdings</vt:lpstr>
      <vt:lpstr>Thème Office</vt:lpstr>
      <vt:lpstr>Password Strength Tester</vt:lpstr>
      <vt:lpstr>ROADMAP</vt:lpstr>
      <vt:lpstr>PROBLEM   INTRODUCTION</vt:lpstr>
      <vt:lpstr>PROJECT   OBJEcTIVES</vt:lpstr>
      <vt:lpstr>Présentation PowerPoint</vt:lpstr>
      <vt:lpstr>Présentation PowerPoint</vt:lpstr>
      <vt:lpstr>Présentation PowerPoint</vt:lpstr>
      <vt:lpstr>EXISTING SOLUTIONS OVERVIEW 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Rania Mestiri</dc:creator>
  <cp:lastModifiedBy>Rania Mestiri</cp:lastModifiedBy>
  <cp:revision>8</cp:revision>
  <dcterms:created xsi:type="dcterms:W3CDTF">2026-04-29T22:16:59Z</dcterms:created>
  <dcterms:modified xsi:type="dcterms:W3CDTF">2026-05-07T16:48:31Z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
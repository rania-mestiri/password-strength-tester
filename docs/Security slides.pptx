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78" r:id="rId7"/>
    <p:sldId id="286" r:id="rId8"/>
    <p:sldId id="279" r:id="rId9"/>
    <p:sldId id="289" r:id="rId10"/>
    <p:sldId id="290" r:id="rId11"/>
    <p:sldId id="287" r:id="rId12"/>
    <p:sldId id="291" r:id="rId13"/>
    <p:sldId id="258" r:id="rId14"/>
    <p:sldId id="292" r:id="rId15"/>
    <p:sldId id="293" r:id="rId16"/>
    <p:sldId id="294" r:id="rId17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8F8F8"/>
    <a:srgbClr val="F3F1ED"/>
    <a:srgbClr val="A5A5A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1D2EACD3-59A3-431D-A9CB-EC029C3F3AF5}" type="datetime1">
              <a:rPr lang="fr-FR" smtClean="0"/>
              <a:t>01/05/2026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28EEFA9E-C190-4F5C-8394-BD5F1CD55C0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DA8956E-0A83-4930-8ABA-7967BBFAD4A7}" type="datetime1">
              <a:rPr lang="fr-FR" smtClean="0"/>
              <a:t>01/05/2026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22289C57-55D7-40A4-A101-E74FAC7A092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E39DE-16D0-A413-55F9-5C7E8F53A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49D4368-0850-F8C6-1638-86CF6999A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4969EB2-5A77-856B-66F1-46C4F9CFB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58B183-A6FF-C100-46DA-2E3A5B369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6258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rtlCol="0" anchor="ctr">
            <a:noAutofit/>
          </a:bodyPr>
          <a:lstStyle>
            <a:lvl1pPr algn="l">
              <a:defRPr lang="fr-FR" sz="3600" spc="15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rdre du jour"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 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rtlCol="0" anchor="b">
            <a:normAutofit/>
          </a:bodyPr>
          <a:lstStyle>
            <a:lvl1pPr>
              <a:defRPr lang="fr-FR"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 rtlCol="0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 rtlCol="0">
            <a:normAutofit/>
          </a:bodyPr>
          <a:lstStyle>
            <a:lvl1pPr marL="0" indent="0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endParaRPr lang="fr-FR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 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 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9" name="Espace réservé du contenu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endParaRPr lang="fr-FR"/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 rtlCol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lang="fr-FR"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fr-FR"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fr-FR"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fr-FR"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9" name="Espace réservé du pied de page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endParaRPr lang="fr-FR"/>
          </a:p>
        </p:txBody>
      </p:sp>
      <p:sp>
        <p:nvSpPr>
          <p:cNvPr id="20" name="Espace réservé du numéro de diapositive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 rtlCol="0">
            <a:normAutofit/>
          </a:bodyPr>
          <a:lstStyle>
            <a:lvl1pPr marL="0" indent="0" algn="l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contenu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 rtlCol="0">
            <a:normAutofit/>
          </a:bodyPr>
          <a:lstStyle>
            <a:lvl1pPr algn="l">
              <a:defRPr lang="fr-FR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table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 tableau</a:t>
            </a:r>
            <a:endParaRPr lang="fr-FR" dirty="0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endParaRPr lang="fr-FR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rtlCol="0" anchor="ctr">
            <a:no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rtlCol="0" anchor="ctr">
            <a:no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3" name="Graphique 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rtlCol="0" anchor="b">
            <a:normAutofit/>
          </a:bodyPr>
          <a:lstStyle>
            <a:lvl1pPr algn="ctr"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e table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 tableau</a:t>
            </a:r>
            <a:endParaRPr lang="fr-FR" dirty="0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rme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lang="fr-FR"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endParaRPr lang="fr-FR"/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49DFD55-3C28-40EF-9E31-A92D2E4017F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500/index.html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9086" y="1214804"/>
            <a:ext cx="5283304" cy="1948272"/>
          </a:xfrm>
        </p:spPr>
        <p:txBody>
          <a:bodyPr rtlCol="0" anchor="ctr"/>
          <a:lstStyle>
            <a:defPPr>
              <a:defRPr lang="fr-FR"/>
            </a:defPPr>
          </a:lstStyle>
          <a:p>
            <a:pPr algn="ctr"/>
            <a:r>
              <a:rPr lang="fr-FR" sz="4400" b="1" dirty="0" err="1"/>
              <a:t>Password</a:t>
            </a:r>
            <a:r>
              <a:rPr lang="fr-FR" sz="4400" b="1" dirty="0"/>
              <a:t> Strength Tester</a:t>
            </a:r>
            <a:endParaRPr lang="fr-FR" sz="4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EDFD1E6-AF7F-FFF0-B5E1-5DF74D216C93}"/>
              </a:ext>
            </a:extLst>
          </p:cNvPr>
          <p:cNvSpPr txBox="1"/>
          <p:nvPr/>
        </p:nvSpPr>
        <p:spPr>
          <a:xfrm>
            <a:off x="345233" y="5794310"/>
            <a:ext cx="4544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Information Assurance and Security Project</a:t>
            </a:r>
          </a:p>
          <a:p>
            <a:pPr algn="ctr"/>
            <a:r>
              <a:rPr lang="fr-FR" b="1" dirty="0"/>
              <a:t>BY : Rania Mestiri (</a:t>
            </a:r>
            <a:r>
              <a:rPr lang="fr-FR" b="1" dirty="0" err="1"/>
              <a:t>Acct</a:t>
            </a:r>
            <a:r>
              <a:rPr lang="fr-FR" b="1" dirty="0"/>
              <a:t>/IT)</a:t>
            </a:r>
          </a:p>
          <a:p>
            <a:pPr algn="ctr"/>
            <a:endParaRPr lang="fr-FR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88B981A-CFA4-41B1-FA35-4A334FFA4F7A}"/>
              </a:ext>
            </a:extLst>
          </p:cNvPr>
          <p:cNvSpPr txBox="1"/>
          <p:nvPr/>
        </p:nvSpPr>
        <p:spPr>
          <a:xfrm>
            <a:off x="6908696" y="3900198"/>
            <a:ext cx="46040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- An OWASP-Standardized Cybersecurity Evaluation Tool -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78" y="671805"/>
            <a:ext cx="3632719" cy="750471"/>
          </a:xfrm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 sz="4400" dirty="0">
                <a:solidFill>
                  <a:schemeClr val="tx1"/>
                </a:solidFill>
              </a:rPr>
              <a:t>ROADMAP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630" y="1545010"/>
            <a:ext cx="3872982" cy="4454574"/>
          </a:xfrm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pPr marL="457200" indent="-457200" rtl="0">
              <a:buFont typeface="+mj-lt"/>
              <a:buAutoNum type="arabicPeriod"/>
            </a:pPr>
            <a:r>
              <a:rPr lang="fr-FR" sz="2000" dirty="0"/>
              <a:t>PROBLEM INTRODUCTION</a:t>
            </a:r>
          </a:p>
          <a:p>
            <a:pPr marL="457200" indent="-457200" rtl="0">
              <a:buFont typeface="+mj-lt"/>
              <a:buAutoNum type="arabicPeriod"/>
            </a:pPr>
            <a:r>
              <a:rPr lang="fr-FR" sz="2000" dirty="0"/>
              <a:t>PROJECT OBJECTIVES</a:t>
            </a:r>
          </a:p>
          <a:p>
            <a:pPr marL="457200" indent="-457200" rtl="0">
              <a:buFont typeface="+mj-lt"/>
              <a:buAutoNum type="arabicPeriod"/>
            </a:pPr>
            <a:r>
              <a:rPr lang="fr-FR" sz="2000" dirty="0"/>
              <a:t>PASSWORD ATTACKS</a:t>
            </a:r>
          </a:p>
          <a:p>
            <a:pPr marL="457200" indent="-457200" rtl="0">
              <a:buFont typeface="+mj-lt"/>
              <a:buAutoNum type="arabicPeriod"/>
            </a:pPr>
            <a:r>
              <a:rPr lang="fr-FR" sz="2000" dirty="0"/>
              <a:t>SECURITY PARAMETERS</a:t>
            </a:r>
          </a:p>
          <a:p>
            <a:pPr marL="457200" indent="-457200" rtl="0">
              <a:buFont typeface="+mj-lt"/>
              <a:buAutoNum type="arabicPeriod"/>
            </a:pPr>
            <a:r>
              <a:rPr lang="fr-FR" sz="2000" dirty="0"/>
              <a:t>EXISTING SOLUTIONS</a:t>
            </a:r>
          </a:p>
          <a:p>
            <a:pPr marL="457200" indent="-457200" rtl="0">
              <a:buFont typeface="+mj-lt"/>
              <a:buAutoNum type="arabicPeriod"/>
            </a:pPr>
            <a:r>
              <a:rPr lang="fr-FR" sz="2000" dirty="0"/>
              <a:t>SYSTEM OVERVIEW</a:t>
            </a:r>
          </a:p>
          <a:p>
            <a:pPr marL="457200" indent="-457200" rtl="0">
              <a:buFont typeface="+mj-lt"/>
              <a:buAutoNum type="arabicPeriod"/>
            </a:pPr>
            <a:r>
              <a:rPr lang="fr-FR" sz="2000" dirty="0"/>
              <a:t>SYSTEM ARCHITECTURE</a:t>
            </a:r>
          </a:p>
          <a:p>
            <a:pPr marL="457200" indent="-457200" rtl="0">
              <a:buFont typeface="+mj-lt"/>
              <a:buAutoNum type="arabicPeriod"/>
            </a:pPr>
            <a:r>
              <a:rPr lang="fr-FR" sz="2000" dirty="0"/>
              <a:t>DEVELOPMENT PHASE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fr-FR" smtClean="0">
                <a:solidFill>
                  <a:schemeClr val="bg1"/>
                </a:solidFill>
              </a:rPr>
              <a:pPr/>
              <a:t>2</a:t>
            </a:fld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431" y="687871"/>
            <a:ext cx="5268205" cy="1250304"/>
          </a:xfrm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 sz="4000" dirty="0"/>
              <a:t>PROBLEM </a:t>
            </a:r>
            <a:br>
              <a:rPr lang="fr-FR" sz="4000" dirty="0"/>
            </a:br>
            <a:r>
              <a:rPr lang="fr-FR" sz="4000" dirty="0"/>
              <a:t>	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F51883-F820-BAE0-A867-629749C31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575" y="2557805"/>
            <a:ext cx="8698689" cy="3407051"/>
          </a:xfrm>
        </p:spPr>
        <p:txBody>
          <a:bodyPr>
            <a:normAutofit/>
          </a:bodyPr>
          <a:lstStyle/>
          <a:p>
            <a:r>
              <a:rPr lang="en-US" sz="2400" b="0" dirty="0"/>
              <a:t>	In today’s digital world, passwords are the </a:t>
            </a:r>
            <a:r>
              <a:rPr lang="en-US" sz="2400" dirty="0"/>
              <a:t>first line of defense </a:t>
            </a:r>
            <a:r>
              <a:rPr lang="en-US" sz="2400" b="0" dirty="0"/>
              <a:t>against unauthorized access. </a:t>
            </a:r>
          </a:p>
          <a:p>
            <a:r>
              <a:rPr lang="en-US" sz="2400" b="0" dirty="0"/>
              <a:t>Yet, weak or easy-to-guess credentials continue to be one of the </a:t>
            </a:r>
            <a:r>
              <a:rPr lang="en-US" sz="2400" dirty="0"/>
              <a:t>leading causes of security breaches</a:t>
            </a:r>
            <a:r>
              <a:rPr lang="en-US" sz="2400" b="0" dirty="0"/>
              <a:t>. </a:t>
            </a:r>
          </a:p>
          <a:p>
            <a:r>
              <a:rPr lang="en-US" sz="2400" b="0" dirty="0"/>
              <a:t>Many users prioritize convenience over complexity, which makes them vulnerable to attacks such as </a:t>
            </a:r>
            <a:r>
              <a:rPr lang="en-US" sz="2400" b="0" dirty="0">
                <a:solidFill>
                  <a:schemeClr val="accent5">
                    <a:lumMod val="50000"/>
                  </a:schemeClr>
                </a:solidFill>
              </a:rPr>
              <a:t>brute force</a:t>
            </a:r>
            <a:r>
              <a:rPr lang="en-US" sz="2400" b="0" dirty="0"/>
              <a:t>, </a:t>
            </a:r>
            <a:r>
              <a:rPr lang="en-US" sz="2400" b="0" dirty="0">
                <a:solidFill>
                  <a:schemeClr val="accent5">
                    <a:lumMod val="50000"/>
                  </a:schemeClr>
                </a:solidFill>
              </a:rPr>
              <a:t>dictionary</a:t>
            </a:r>
            <a:r>
              <a:rPr lang="en-US" sz="2400" b="0" dirty="0"/>
              <a:t>, or </a:t>
            </a:r>
            <a:r>
              <a:rPr lang="en-US" sz="2400" b="0" dirty="0">
                <a:solidFill>
                  <a:schemeClr val="accent5">
                    <a:lumMod val="50000"/>
                  </a:schemeClr>
                </a:solidFill>
              </a:rPr>
              <a:t>credential stuffing</a:t>
            </a:r>
            <a:r>
              <a:rPr lang="en-US" sz="2400" b="0" dirty="0"/>
              <a:t>. </a:t>
            </a:r>
            <a:endParaRPr lang="fr-FR" sz="2400" b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3BC88F-6CA5-0BF9-1F99-D1266FC54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fr-FR" smtClean="0"/>
              <a:pPr rtl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79268AF-9BC6-4D40-2A60-D6E1D1DC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9" y="698760"/>
            <a:ext cx="4033313" cy="1210656"/>
          </a:xfrm>
        </p:spPr>
        <p:txBody>
          <a:bodyPr>
            <a:noAutofit/>
          </a:bodyPr>
          <a:lstStyle/>
          <a:p>
            <a:r>
              <a:rPr lang="fr-FR" sz="4000" dirty="0"/>
              <a:t>PROJECT </a:t>
            </a:r>
            <a:br>
              <a:rPr lang="fr-FR" sz="4000" dirty="0"/>
            </a:br>
            <a:r>
              <a:rPr lang="fr-FR" sz="4000" dirty="0"/>
              <a:t>	OBJETIVES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00454D30-72F3-21AF-5264-B5C73C5E6EC6}"/>
              </a:ext>
            </a:extLst>
          </p:cNvPr>
          <p:cNvSpPr txBox="1">
            <a:spLocks/>
          </p:cNvSpPr>
          <p:nvPr/>
        </p:nvSpPr>
        <p:spPr>
          <a:xfrm>
            <a:off x="678575" y="2567136"/>
            <a:ext cx="10126274" cy="388031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This </a:t>
            </a:r>
            <a:r>
              <a:rPr lang="fr-FR" sz="2400" dirty="0" err="1"/>
              <a:t>Password</a:t>
            </a:r>
            <a:r>
              <a:rPr lang="fr-FR" sz="2400" dirty="0"/>
              <a:t> Strength Tester </a:t>
            </a:r>
          </a:p>
          <a:p>
            <a:r>
              <a:rPr lang="fr-FR" sz="2400" dirty="0" err="1"/>
              <a:t>evaluates</a:t>
            </a:r>
            <a:r>
              <a:rPr lang="fr-FR" sz="2400" dirty="0"/>
              <a:t> how </a:t>
            </a:r>
            <a:r>
              <a:rPr lang="fr-FR" sz="2400" dirty="0" err="1"/>
              <a:t>secure</a:t>
            </a:r>
            <a:r>
              <a:rPr lang="fr-FR" sz="2400" dirty="0"/>
              <a:t> a </a:t>
            </a:r>
            <a:r>
              <a:rPr lang="fr-FR" sz="2400" dirty="0" err="1"/>
              <a:t>password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based</a:t>
            </a:r>
            <a:r>
              <a:rPr lang="fr-FR" sz="2400" dirty="0"/>
              <a:t> on </a:t>
            </a:r>
            <a:r>
              <a:rPr lang="fr-FR" sz="2400" b="1" dirty="0">
                <a:solidFill>
                  <a:schemeClr val="accent5">
                    <a:lumMod val="50000"/>
                  </a:schemeClr>
                </a:solidFill>
              </a:rPr>
              <a:t>key </a:t>
            </a:r>
            <a:r>
              <a:rPr lang="fr-FR" sz="2400" b="1" dirty="0" err="1">
                <a:solidFill>
                  <a:schemeClr val="accent5">
                    <a:lumMod val="50000"/>
                  </a:schemeClr>
                </a:solidFill>
              </a:rPr>
              <a:t>parameters</a:t>
            </a:r>
            <a:r>
              <a:rPr lang="fr-FR" sz="2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fr-FR" sz="2400" dirty="0"/>
              <a:t>: 	</a:t>
            </a:r>
            <a:r>
              <a:rPr lang="fr-FR" sz="2400" b="1" dirty="0" err="1"/>
              <a:t>length</a:t>
            </a:r>
            <a:r>
              <a:rPr lang="fr-FR" sz="2400" dirty="0"/>
              <a:t>, </a:t>
            </a:r>
            <a:r>
              <a:rPr lang="fr-FR" sz="2400" b="1" dirty="0" err="1"/>
              <a:t>complexity</a:t>
            </a:r>
            <a:r>
              <a:rPr lang="fr-FR" sz="2400" dirty="0"/>
              <a:t>, </a:t>
            </a:r>
            <a:r>
              <a:rPr lang="fr-FR" sz="2400" b="1" dirty="0" err="1"/>
              <a:t>entropy</a:t>
            </a:r>
            <a:r>
              <a:rPr lang="fr-FR" sz="2400" dirty="0"/>
              <a:t>, </a:t>
            </a:r>
            <a:r>
              <a:rPr lang="fr-FR" sz="2400" b="1" dirty="0"/>
              <a:t>use of </a:t>
            </a:r>
            <a:r>
              <a:rPr lang="fr-FR" sz="2400" b="1" dirty="0" err="1"/>
              <a:t>numeric</a:t>
            </a:r>
            <a:r>
              <a:rPr lang="fr-FR" sz="2400" b="1" dirty="0"/>
              <a:t> and </a:t>
            </a:r>
            <a:r>
              <a:rPr lang="fr-FR" sz="2400" b="1" dirty="0" err="1"/>
              <a:t>special</a:t>
            </a:r>
            <a:r>
              <a:rPr lang="fr-FR" sz="2400" b="1" dirty="0"/>
              <a:t> </a:t>
            </a:r>
            <a:r>
              <a:rPr lang="fr-FR" sz="2400" b="1" dirty="0" err="1"/>
              <a:t>characters</a:t>
            </a:r>
            <a:r>
              <a:rPr lang="fr-FR" sz="2400" dirty="0"/>
              <a:t>, and the </a:t>
            </a:r>
            <a:r>
              <a:rPr lang="fr-FR" sz="2400" b="1" dirty="0" err="1"/>
              <a:t>avoidance</a:t>
            </a:r>
            <a:r>
              <a:rPr lang="fr-FR" sz="2400" b="1" dirty="0"/>
              <a:t> of </a:t>
            </a:r>
            <a:r>
              <a:rPr lang="fr-FR" sz="2400" b="1" dirty="0" err="1"/>
              <a:t>personal</a:t>
            </a:r>
            <a:r>
              <a:rPr lang="fr-FR" sz="2400" b="1" dirty="0"/>
              <a:t> or </a:t>
            </a:r>
            <a:r>
              <a:rPr lang="fr-FR" sz="2400" b="1" dirty="0" err="1"/>
              <a:t>publicly</a:t>
            </a:r>
            <a:r>
              <a:rPr lang="fr-FR" sz="2400" b="1" dirty="0"/>
              <a:t> </a:t>
            </a:r>
            <a:r>
              <a:rPr lang="fr-FR" sz="2400" b="1" dirty="0" err="1"/>
              <a:t>known</a:t>
            </a:r>
            <a:r>
              <a:rPr lang="fr-FR" sz="2400" b="1" dirty="0"/>
              <a:t> information.</a:t>
            </a:r>
          </a:p>
          <a:p>
            <a:r>
              <a:rPr lang="en-US" sz="2400" dirty="0"/>
              <a:t>encourages the use of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passphrases</a:t>
            </a:r>
            <a:r>
              <a:rPr lang="en-US" sz="2400" dirty="0"/>
              <a:t> which are both user-friendly and highly resistant to attacks. </a:t>
            </a:r>
          </a:p>
          <a:p>
            <a:r>
              <a:rPr lang="en-US" sz="2400" dirty="0"/>
              <a:t>provides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immediate feedback </a:t>
            </a:r>
            <a:r>
              <a:rPr lang="fr-FR" sz="2400" dirty="0" err="1"/>
              <a:t>indicating</a:t>
            </a:r>
            <a:r>
              <a:rPr lang="fr-FR" sz="2400" dirty="0"/>
              <a:t> </a:t>
            </a:r>
            <a:r>
              <a:rPr lang="fr-FR" sz="2400" dirty="0" err="1"/>
              <a:t>whether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a </a:t>
            </a:r>
            <a:r>
              <a:rPr lang="fr-FR" sz="2400" dirty="0" err="1"/>
              <a:t>weak</a:t>
            </a:r>
            <a:r>
              <a:rPr lang="fr-FR" sz="2400" dirty="0"/>
              <a:t>, </a:t>
            </a:r>
            <a:r>
              <a:rPr lang="fr-FR" sz="2400" dirty="0" err="1"/>
              <a:t>moderate</a:t>
            </a:r>
            <a:r>
              <a:rPr lang="fr-FR" sz="2400" dirty="0"/>
              <a:t>, or </a:t>
            </a:r>
            <a:r>
              <a:rPr lang="fr-FR" sz="2400" dirty="0" err="1"/>
              <a:t>strong</a:t>
            </a:r>
            <a:r>
              <a:rPr lang="fr-FR" sz="2400" dirty="0"/>
              <a:t> </a:t>
            </a:r>
            <a:r>
              <a:rPr lang="fr-FR" sz="2400" dirty="0" err="1"/>
              <a:t>password</a:t>
            </a:r>
            <a:r>
              <a:rPr lang="fr-FR" sz="2400" dirty="0"/>
              <a:t>, </a:t>
            </a:r>
            <a:r>
              <a:rPr lang="fr-FR" sz="2400" dirty="0" err="1"/>
              <a:t>highlighting</a:t>
            </a:r>
            <a:r>
              <a:rPr lang="fr-FR" sz="2400" dirty="0"/>
              <a:t> </a:t>
            </a:r>
            <a:r>
              <a:rPr lang="fr-FR" sz="2400" dirty="0" err="1"/>
              <a:t>specific</a:t>
            </a:r>
            <a:r>
              <a:rPr lang="fr-FR" sz="2400" dirty="0"/>
              <a:t> </a:t>
            </a:r>
            <a:r>
              <a:rPr lang="fr-FR" sz="2400" dirty="0" err="1"/>
              <a:t>weaknesses</a:t>
            </a:r>
            <a:r>
              <a:rPr lang="fr-FR" sz="2400" dirty="0"/>
              <a:t> and </a:t>
            </a:r>
            <a:r>
              <a:rPr lang="fr-FR" sz="2400" dirty="0" err="1"/>
              <a:t>suggesting</a:t>
            </a:r>
            <a:r>
              <a:rPr lang="fr-FR" sz="2400" dirty="0"/>
              <a:t> </a:t>
            </a:r>
            <a:r>
              <a:rPr lang="fr-FR" sz="2400" dirty="0" err="1"/>
              <a:t>improvements</a:t>
            </a:r>
            <a:r>
              <a:rPr lang="fr-FR" sz="2400" dirty="0"/>
              <a:t>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212519D-481B-CB74-A81C-AD0D46DCD84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A49DFD55-3C28-40EF-9E31-A92D2E4017FF}" type="slidenum">
              <a:rPr lang="fr-FR" smtClean="0"/>
              <a:pPr rtl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3496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90000"/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AAAD0CD2-ED8B-F668-CD20-EFFCF5041277}"/>
              </a:ext>
            </a:extLst>
          </p:cNvPr>
          <p:cNvSpPr txBox="1"/>
          <p:nvPr/>
        </p:nvSpPr>
        <p:spPr>
          <a:xfrm>
            <a:off x="242596" y="448685"/>
            <a:ext cx="40774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PASSWORD </a:t>
            </a:r>
          </a:p>
          <a:p>
            <a:r>
              <a:rPr lang="fr-FR" sz="4000" dirty="0"/>
              <a:t>	ATTACKS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683CE18-E102-886A-3129-CD70FA8211A4}"/>
              </a:ext>
            </a:extLst>
          </p:cNvPr>
          <p:cNvSpPr txBox="1"/>
          <p:nvPr/>
        </p:nvSpPr>
        <p:spPr>
          <a:xfrm>
            <a:off x="821095" y="1966166"/>
            <a:ext cx="938659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cap="all" dirty="0">
                <a:solidFill>
                  <a:schemeClr val="accent2">
                    <a:lumMod val="50000"/>
                  </a:schemeClr>
                </a:solidFill>
              </a:rPr>
              <a:t>Brute Force Attacks : </a:t>
            </a:r>
            <a:r>
              <a:rPr lang="en-US" sz="2000" b="1" dirty="0"/>
              <a:t>Trial &amp; Error</a:t>
            </a:r>
          </a:p>
          <a:p>
            <a:r>
              <a:rPr lang="en-US" sz="2000" dirty="0"/>
              <a:t>Attackers check every possible character combination until the key is found.</a:t>
            </a:r>
          </a:p>
          <a:p>
            <a:endParaRPr lang="en-US" sz="2000" dirty="0"/>
          </a:p>
          <a:p>
            <a:r>
              <a:rPr lang="en-US" b="1" dirty="0"/>
              <a:t>Example: </a:t>
            </a:r>
            <a:r>
              <a:rPr lang="en-US" dirty="0"/>
              <a:t>The Math of Guessing</a:t>
            </a:r>
          </a:p>
          <a:p>
            <a:r>
              <a:rPr lang="en-US" dirty="0"/>
              <a:t> </a:t>
            </a:r>
            <a:r>
              <a:rPr lang="en-US" u="sng" dirty="0"/>
              <a:t>4-Digit PIN:</a:t>
            </a:r>
            <a:r>
              <a:rPr lang="en-US" dirty="0"/>
              <a:t>  10,000 combinations. -&gt; Cracked in seconds.</a:t>
            </a:r>
          </a:p>
          <a:p>
            <a:r>
              <a:rPr lang="en-US" dirty="0"/>
              <a:t> </a:t>
            </a:r>
            <a:r>
              <a:rPr lang="en-US" u="sng" dirty="0"/>
              <a:t>8-Char (Lower):</a:t>
            </a:r>
            <a:r>
              <a:rPr lang="en-US" dirty="0"/>
              <a:t>  26^8 = 208 Billion. -&gt; Cracked in hours.</a:t>
            </a:r>
          </a:p>
          <a:p>
            <a:r>
              <a:rPr lang="en-US" dirty="0"/>
              <a:t> </a:t>
            </a:r>
            <a:r>
              <a:rPr lang="en-US" u="sng" dirty="0"/>
              <a:t>12-Char (Complex):</a:t>
            </a:r>
            <a:r>
              <a:rPr lang="en-US" dirty="0"/>
              <a:t>  </a:t>
            </a:r>
            <a:r>
              <a:rPr lang="fr-FR" dirty="0" err="1"/>
              <a:t>extremely</a:t>
            </a:r>
            <a:r>
              <a:rPr lang="fr-FR" dirty="0"/>
              <a:t> large</a:t>
            </a:r>
            <a:r>
              <a:rPr lang="en-US" dirty="0"/>
              <a:t>. -&gt; Requires year or more to crack.</a:t>
            </a:r>
          </a:p>
          <a:p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cap="all" dirty="0" err="1">
                <a:solidFill>
                  <a:schemeClr val="accent2">
                    <a:lumMod val="50000"/>
                  </a:schemeClr>
                </a:solidFill>
              </a:rPr>
              <a:t>Dictionary</a:t>
            </a:r>
            <a:r>
              <a:rPr lang="fr-FR" sz="2000" b="1" cap="all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2000" b="1" cap="all" dirty="0" err="1">
                <a:solidFill>
                  <a:schemeClr val="accent2">
                    <a:lumMod val="50000"/>
                  </a:schemeClr>
                </a:solidFill>
              </a:rPr>
              <a:t>Attacks</a:t>
            </a:r>
            <a:r>
              <a:rPr lang="fr-FR" sz="2000" b="1" cap="all" dirty="0">
                <a:solidFill>
                  <a:schemeClr val="accent2">
                    <a:lumMod val="50000"/>
                  </a:schemeClr>
                </a:solidFill>
              </a:rPr>
              <a:t> : </a:t>
            </a:r>
            <a:r>
              <a:rPr lang="en-US" sz="2000" b="1" dirty="0"/>
              <a:t>Predictable Wordlists</a:t>
            </a:r>
            <a:endParaRPr lang="fr-FR" sz="2000" b="1" cap="all" dirty="0"/>
          </a:p>
          <a:p>
            <a:r>
              <a:rPr lang="fr-FR" sz="2000" dirty="0" err="1"/>
              <a:t>Attackers</a:t>
            </a:r>
            <a:r>
              <a:rPr lang="fr-FR" sz="2000" dirty="0"/>
              <a:t> use a </a:t>
            </a:r>
            <a:r>
              <a:rPr lang="fr-FR" sz="2000" dirty="0" err="1"/>
              <a:t>list</a:t>
            </a:r>
            <a:r>
              <a:rPr lang="fr-FR" sz="2000" dirty="0"/>
              <a:t> of </a:t>
            </a:r>
            <a:r>
              <a:rPr lang="en-US" sz="2000" dirty="0"/>
              <a:t>common words or leaked passwords </a:t>
            </a:r>
            <a:r>
              <a:rPr lang="fr-FR" sz="2000" dirty="0"/>
              <a:t>to </a:t>
            </a:r>
            <a:r>
              <a:rPr lang="fr-FR" sz="2000" dirty="0" err="1"/>
              <a:t>guess</a:t>
            </a:r>
            <a:r>
              <a:rPr lang="fr-FR" sz="2000" dirty="0"/>
              <a:t> the right one.</a:t>
            </a:r>
          </a:p>
          <a:p>
            <a:endParaRPr lang="fr-FR" sz="2000" dirty="0"/>
          </a:p>
          <a:p>
            <a:r>
              <a:rPr lang="en-US" b="1" dirty="0"/>
              <a:t>Example: </a:t>
            </a:r>
            <a:r>
              <a:rPr lang="en-US" dirty="0"/>
              <a:t>Pattern Permutations</a:t>
            </a:r>
          </a:p>
          <a:p>
            <a:r>
              <a:rPr lang="en-US" dirty="0"/>
              <a:t>password → P@ssw0rd!</a:t>
            </a:r>
          </a:p>
          <a:p>
            <a:r>
              <a:rPr lang="en-US" dirty="0"/>
              <a:t>admin → @dm1n_2024</a:t>
            </a:r>
          </a:p>
          <a:p>
            <a:r>
              <a:rPr lang="en-US" dirty="0"/>
              <a:t>=&gt; Reduces guessing time from years to minutes.</a:t>
            </a:r>
          </a:p>
        </p:txBody>
      </p:sp>
      <p:sp>
        <p:nvSpPr>
          <p:cNvPr id="9" name="Espace réservé du numéro de diapositive 10">
            <a:extLst>
              <a:ext uri="{FF2B5EF4-FFF2-40B4-BE49-F238E27FC236}">
                <a16:creationId xmlns:a16="http://schemas.microsoft.com/office/drawing/2014/main" id="{17C75D8C-66C9-B91C-EC42-81565B16BE9A}"/>
              </a:ext>
            </a:extLst>
          </p:cNvPr>
          <p:cNvSpPr txBox="1">
            <a:spLocks/>
          </p:cNvSpPr>
          <p:nvPr/>
        </p:nvSpPr>
        <p:spPr>
          <a:xfrm>
            <a:off x="10373350" y="6412335"/>
            <a:ext cx="987552" cy="365125"/>
          </a:xfrm>
          <a:prstGeom prst="rect">
            <a:avLst/>
          </a:prstGeom>
        </p:spPr>
        <p:txBody>
          <a:bodyPr/>
          <a:lstStyle>
            <a:defPPr rtl="0">
              <a:defRPr lang="fr-FR"/>
            </a:defPPr>
            <a:lvl1pPr marL="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49DFD55-3C28-40EF-9E31-A92D2E4017FF}" type="slidenum">
              <a:rPr lang="fr-FR" sz="900" smtClean="0">
                <a:solidFill>
                  <a:srgbClr val="898989"/>
                </a:solidFill>
              </a:rPr>
              <a:pPr algn="r"/>
              <a:t>5</a:t>
            </a:fld>
            <a:endParaRPr lang="fr-FR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90000"/>
            <a:alpha val="7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2C1F7-BD75-E3E9-7D27-6FACD892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04A9186-1BB1-3C5E-1603-F1D5C5434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D839A081-6373-5148-A94A-6E37ED84515A}"/>
              </a:ext>
            </a:extLst>
          </p:cNvPr>
          <p:cNvSpPr txBox="1"/>
          <p:nvPr/>
        </p:nvSpPr>
        <p:spPr>
          <a:xfrm>
            <a:off x="242596" y="448685"/>
            <a:ext cx="50945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PASSWORD </a:t>
            </a:r>
          </a:p>
          <a:p>
            <a:r>
              <a:rPr lang="fr-FR" sz="4000" dirty="0"/>
              <a:t>	ATTACKS </a:t>
            </a:r>
            <a:r>
              <a:rPr lang="fr-FR" sz="3200" dirty="0"/>
              <a:t>(</a:t>
            </a:r>
            <a:r>
              <a:rPr lang="fr-FR" sz="3200" dirty="0" err="1"/>
              <a:t>cont</a:t>
            </a:r>
            <a:r>
              <a:rPr lang="fr-FR" sz="3200" dirty="0"/>
              <a:t>.)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E82E7DE-AD84-DDDD-0E2A-02EAD039D0F1}"/>
              </a:ext>
            </a:extLst>
          </p:cNvPr>
          <p:cNvSpPr txBox="1"/>
          <p:nvPr/>
        </p:nvSpPr>
        <p:spPr>
          <a:xfrm>
            <a:off x="811763" y="1966166"/>
            <a:ext cx="9601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cap="all" dirty="0">
                <a:solidFill>
                  <a:schemeClr val="accent2">
                    <a:lumMod val="50000"/>
                  </a:schemeClr>
                </a:solidFill>
              </a:rPr>
              <a:t>Credential Stuffing : </a:t>
            </a:r>
            <a:r>
              <a:rPr lang="en-US" sz="2000" b="1" dirty="0"/>
              <a:t>The Breach Domino Effect</a:t>
            </a:r>
            <a:endParaRPr lang="en-US" sz="2000" b="1" cap="all" dirty="0"/>
          </a:p>
          <a:p>
            <a:r>
              <a:rPr lang="fr-FR" sz="2000" dirty="0" err="1"/>
              <a:t>Attackers</a:t>
            </a:r>
            <a:r>
              <a:rPr lang="fr-FR" sz="2000" dirty="0"/>
              <a:t> </a:t>
            </a:r>
            <a:r>
              <a:rPr lang="fr-FR" sz="2000" dirty="0" err="1"/>
              <a:t>reuse</a:t>
            </a:r>
            <a:r>
              <a:rPr lang="fr-FR" sz="2000" dirty="0"/>
              <a:t> </a:t>
            </a:r>
            <a:r>
              <a:rPr lang="fr-FR" sz="2000" dirty="0" err="1"/>
              <a:t>passwords</a:t>
            </a:r>
            <a:r>
              <a:rPr lang="fr-FR" sz="2000" dirty="0"/>
              <a:t> </a:t>
            </a:r>
            <a:r>
              <a:rPr lang="fr-FR" sz="2000" dirty="0" err="1"/>
              <a:t>stolen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data </a:t>
            </a:r>
            <a:r>
              <a:rPr lang="fr-FR" sz="2000" dirty="0" err="1"/>
              <a:t>breaches</a:t>
            </a:r>
            <a:r>
              <a:rPr lang="fr-FR" sz="2000" dirty="0"/>
              <a:t> on </a:t>
            </a:r>
            <a:r>
              <a:rPr lang="fr-FR" sz="2000" dirty="0" err="1"/>
              <a:t>other</a:t>
            </a:r>
            <a:r>
              <a:rPr lang="fr-FR" sz="2000" dirty="0"/>
              <a:t> </a:t>
            </a:r>
            <a:r>
              <a:rPr lang="fr-FR" sz="2000" dirty="0" err="1"/>
              <a:t>websites</a:t>
            </a:r>
            <a:r>
              <a:rPr lang="fr-FR" sz="2000" dirty="0"/>
              <a:t>.</a:t>
            </a:r>
          </a:p>
          <a:p>
            <a:endParaRPr lang="en-US" sz="2000" b="1" cap="all" dirty="0"/>
          </a:p>
          <a:p>
            <a:r>
              <a:rPr lang="en-US" sz="2000" b="1" dirty="0"/>
              <a:t>Example: </a:t>
            </a:r>
            <a:r>
              <a:rPr lang="en-US" sz="2000" dirty="0"/>
              <a:t>Cross-Platform Takeover</a:t>
            </a:r>
          </a:p>
          <a:p>
            <a:r>
              <a:rPr lang="en-US" sz="2000" dirty="0"/>
              <a:t>A leaked password from one site gives access to multiple other accounts.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cap="all" dirty="0">
                <a:solidFill>
                  <a:schemeClr val="accent2">
                    <a:lumMod val="50000"/>
                  </a:schemeClr>
                </a:solidFill>
              </a:rPr>
              <a:t>Social Engineering : </a:t>
            </a:r>
            <a:r>
              <a:rPr lang="en-US" sz="2000" b="1" dirty="0"/>
              <a:t>The Human Element</a:t>
            </a:r>
            <a:endParaRPr lang="fr-FR" sz="2000" b="1" cap="all" dirty="0"/>
          </a:p>
          <a:p>
            <a:r>
              <a:rPr lang="fr-FR" sz="2000" dirty="0" err="1"/>
              <a:t>Attackers</a:t>
            </a:r>
            <a:r>
              <a:rPr lang="fr-FR" sz="2000" dirty="0"/>
              <a:t> </a:t>
            </a:r>
            <a:r>
              <a:rPr lang="en-US" sz="2000" dirty="0"/>
              <a:t>manipulate users into giving up their credentials or take guesses based on </a:t>
            </a:r>
            <a:r>
              <a:rPr lang="fr-FR" sz="2000" dirty="0" err="1"/>
              <a:t>personal</a:t>
            </a:r>
            <a:r>
              <a:rPr lang="fr-FR" sz="2000" dirty="0"/>
              <a:t> information</a:t>
            </a:r>
            <a:r>
              <a:rPr lang="en-US" sz="2000" dirty="0"/>
              <a:t>.</a:t>
            </a:r>
          </a:p>
          <a:p>
            <a:br>
              <a:rPr lang="en-US" sz="2000" dirty="0"/>
            </a:br>
            <a:r>
              <a:rPr lang="en-US" sz="2000" b="1" dirty="0"/>
              <a:t>Example: </a:t>
            </a:r>
            <a:r>
              <a:rPr lang="en-US" sz="2000" dirty="0"/>
              <a:t>Intelligence Gathering</a:t>
            </a:r>
          </a:p>
          <a:p>
            <a:r>
              <a:rPr lang="en-US" sz="2000" dirty="0"/>
              <a:t>Finds your dog's name "Rex" → Rex_2015</a:t>
            </a:r>
          </a:p>
          <a:p>
            <a:r>
              <a:rPr lang="en-US" sz="2000" dirty="0"/>
              <a:t>Phishing: A fake "Password Expired" email redirects you to a malicious site.</a:t>
            </a:r>
          </a:p>
          <a:p>
            <a:endParaRPr lang="fr-FR" sz="2000" dirty="0"/>
          </a:p>
        </p:txBody>
      </p:sp>
      <p:sp>
        <p:nvSpPr>
          <p:cNvPr id="3" name="Espace réservé du numéro de diapositive 10">
            <a:extLst>
              <a:ext uri="{FF2B5EF4-FFF2-40B4-BE49-F238E27FC236}">
                <a16:creationId xmlns:a16="http://schemas.microsoft.com/office/drawing/2014/main" id="{85C4E027-3976-F28B-5C01-9231BF22FD5B}"/>
              </a:ext>
            </a:extLst>
          </p:cNvPr>
          <p:cNvSpPr txBox="1">
            <a:spLocks/>
          </p:cNvSpPr>
          <p:nvPr/>
        </p:nvSpPr>
        <p:spPr>
          <a:xfrm>
            <a:off x="10373350" y="6412335"/>
            <a:ext cx="987552" cy="365125"/>
          </a:xfrm>
          <a:prstGeom prst="rect">
            <a:avLst/>
          </a:prstGeom>
        </p:spPr>
        <p:txBody>
          <a:bodyPr/>
          <a:lstStyle>
            <a:defPPr rtl="0">
              <a:defRPr lang="fr-FR"/>
            </a:defPPr>
            <a:lvl1pPr marL="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49DFD55-3C28-40EF-9E31-A92D2E4017FF}" type="slidenum">
              <a:rPr lang="fr-FR" sz="900" smtClean="0">
                <a:solidFill>
                  <a:srgbClr val="898989"/>
                </a:solidFill>
              </a:rPr>
              <a:pPr algn="r"/>
              <a:t>6</a:t>
            </a:fld>
            <a:endParaRPr lang="fr-FR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28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8989">
            <a:alpha val="7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F44448C-5D62-37AF-189D-D66B45FA8F4A}"/>
              </a:ext>
            </a:extLst>
          </p:cNvPr>
          <p:cNvSpPr txBox="1"/>
          <p:nvPr/>
        </p:nvSpPr>
        <p:spPr>
          <a:xfrm>
            <a:off x="3204676" y="348216"/>
            <a:ext cx="57826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SECURITY PARAMETERS</a:t>
            </a:r>
          </a:p>
          <a:p>
            <a:r>
              <a:rPr lang="fr-FR" sz="2400" b="1" cap="all" dirty="0"/>
              <a:t>OWASP Evaluation </a:t>
            </a:r>
            <a:r>
              <a:rPr lang="fr-FR" sz="2400" b="1" cap="all" dirty="0" err="1"/>
              <a:t>CriteriA</a:t>
            </a:r>
            <a:endParaRPr lang="fr-FR" sz="2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292D932-75ED-6D92-F038-CECB7B34FAF0}"/>
              </a:ext>
            </a:extLst>
          </p:cNvPr>
          <p:cNvSpPr txBox="1"/>
          <p:nvPr/>
        </p:nvSpPr>
        <p:spPr>
          <a:xfrm>
            <a:off x="3659933" y="1782146"/>
            <a:ext cx="819927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/>
              <a:t>Password</a:t>
            </a:r>
            <a:r>
              <a:rPr lang="fr-FR" sz="2000" b="1" u="sng" dirty="0"/>
              <a:t> Strength :</a:t>
            </a:r>
            <a:r>
              <a:rPr lang="fr-FR" sz="2000" dirty="0"/>
              <a:t> </a:t>
            </a:r>
            <a:r>
              <a:rPr lang="fr-FR" sz="2000" dirty="0">
                <a:solidFill>
                  <a:schemeClr val="bg1"/>
                </a:solidFill>
              </a:rPr>
              <a:t>The</a:t>
            </a:r>
            <a:r>
              <a:rPr lang="fr-FR" sz="2000" dirty="0"/>
              <a:t> </a:t>
            </a:r>
            <a:r>
              <a:rPr lang="fr-FR" sz="2000" dirty="0" err="1">
                <a:solidFill>
                  <a:schemeClr val="bg1"/>
                </a:solidFill>
              </a:rPr>
              <a:t>most</a:t>
            </a:r>
            <a:r>
              <a:rPr lang="fr-FR" sz="2000" dirty="0">
                <a:solidFill>
                  <a:schemeClr val="bg1"/>
                </a:solidFill>
              </a:rPr>
              <a:t> important key </a:t>
            </a:r>
            <a:r>
              <a:rPr lang="fr-FR" sz="2000" dirty="0" err="1">
                <a:solidFill>
                  <a:schemeClr val="bg1"/>
                </a:solidFill>
              </a:rPr>
              <a:t>requirements</a:t>
            </a:r>
            <a:r>
              <a:rPr lang="fr-FR" sz="2000" dirty="0">
                <a:solidFill>
                  <a:schemeClr val="bg1"/>
                </a:solidFill>
              </a:rPr>
              <a:t> are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/>
                </a:solidFill>
              </a:rPr>
              <a:t>Minimum </a:t>
            </a:r>
            <a:r>
              <a:rPr lang="fr-FR" sz="2000" dirty="0" err="1">
                <a:solidFill>
                  <a:schemeClr val="bg1"/>
                </a:solidFill>
              </a:rPr>
              <a:t>length</a:t>
            </a:r>
            <a:r>
              <a:rPr lang="fr-FR" sz="2000" dirty="0">
                <a:solidFill>
                  <a:schemeClr val="bg1"/>
                </a:solidFill>
              </a:rPr>
              <a:t> (8–12 </a:t>
            </a:r>
            <a:r>
              <a:rPr lang="fr-FR" sz="2000" dirty="0" err="1">
                <a:solidFill>
                  <a:schemeClr val="bg1"/>
                </a:solidFill>
              </a:rPr>
              <a:t>characters</a:t>
            </a:r>
            <a:r>
              <a:rPr lang="fr-FR" sz="2000" dirty="0">
                <a:solidFill>
                  <a:schemeClr val="bg1"/>
                </a:solidFill>
              </a:rPr>
              <a:t>)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000" dirty="0" err="1">
                <a:solidFill>
                  <a:schemeClr val="bg1"/>
                </a:solidFill>
              </a:rPr>
              <a:t>Uppercase</a:t>
            </a:r>
            <a:r>
              <a:rPr lang="fr-FR" sz="2000" dirty="0">
                <a:solidFill>
                  <a:schemeClr val="bg1"/>
                </a:solidFill>
              </a:rPr>
              <a:t> and </a:t>
            </a:r>
            <a:r>
              <a:rPr lang="fr-FR" sz="2000" dirty="0" err="1">
                <a:solidFill>
                  <a:schemeClr val="bg1"/>
                </a:solidFill>
              </a:rPr>
              <a:t>lowercase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letters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/>
                </a:solidFill>
              </a:rPr>
              <a:t>At least one </a:t>
            </a:r>
            <a:r>
              <a:rPr lang="fr-FR" sz="2000" dirty="0" err="1">
                <a:solidFill>
                  <a:schemeClr val="bg1"/>
                </a:solidFill>
              </a:rPr>
              <a:t>number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/>
                </a:solidFill>
              </a:rPr>
              <a:t>At least one </a:t>
            </a:r>
            <a:r>
              <a:rPr lang="fr-FR" sz="2000" dirty="0" err="1">
                <a:solidFill>
                  <a:schemeClr val="bg1"/>
                </a:solidFill>
              </a:rPr>
              <a:t>special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character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000" dirty="0" err="1">
                <a:solidFill>
                  <a:schemeClr val="bg1"/>
                </a:solidFill>
              </a:rPr>
              <a:t>Avoid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common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passwords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000" dirty="0" err="1">
                <a:solidFill>
                  <a:schemeClr val="bg1"/>
                </a:solidFill>
              </a:rPr>
              <a:t>Avoid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using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username</a:t>
            </a:r>
            <a:r>
              <a:rPr lang="fr-FR" sz="2000" dirty="0">
                <a:solidFill>
                  <a:schemeClr val="bg1"/>
                </a:solidFill>
              </a:rPr>
              <a:t> in the </a:t>
            </a:r>
            <a:r>
              <a:rPr lang="fr-FR" sz="2000" dirty="0" err="1">
                <a:solidFill>
                  <a:schemeClr val="bg1"/>
                </a:solidFill>
              </a:rPr>
              <a:t>password</a:t>
            </a:r>
            <a:endParaRPr lang="fr-FR" sz="2000" dirty="0">
              <a:solidFill>
                <a:schemeClr val="bg1"/>
              </a:solidFill>
            </a:endParaRPr>
          </a:p>
          <a:p>
            <a:endParaRPr lang="fr-FR" sz="2000" dirty="0">
              <a:solidFill>
                <a:schemeClr val="bg1"/>
              </a:solidFill>
            </a:endParaRPr>
          </a:p>
          <a:p>
            <a:pPr lvl="0"/>
            <a:r>
              <a:rPr lang="fr-FR" sz="2000" b="1" u="sng" dirty="0" err="1"/>
              <a:t>Password</a:t>
            </a:r>
            <a:r>
              <a:rPr lang="fr-FR" sz="2000" b="1" u="sng" dirty="0"/>
              <a:t> </a:t>
            </a:r>
            <a:r>
              <a:rPr lang="fr-FR" sz="2000" b="1" u="sng" dirty="0" err="1"/>
              <a:t>Entropy</a:t>
            </a:r>
            <a:r>
              <a:rPr lang="fr-FR" sz="2000" b="1" u="sng" dirty="0"/>
              <a:t> :</a:t>
            </a:r>
            <a:r>
              <a:rPr lang="fr-FR" sz="2000" dirty="0"/>
              <a:t> </a:t>
            </a:r>
            <a:r>
              <a:rPr lang="fr-FR" sz="2000" dirty="0">
                <a:solidFill>
                  <a:schemeClr val="bg1"/>
                </a:solidFill>
              </a:rPr>
              <a:t>The more </a:t>
            </a:r>
            <a:r>
              <a:rPr lang="fr-FR" sz="2000" dirty="0" err="1">
                <a:solidFill>
                  <a:schemeClr val="bg1"/>
                </a:solidFill>
              </a:rPr>
              <a:t>random</a:t>
            </a:r>
            <a:r>
              <a:rPr lang="fr-FR" sz="2000" dirty="0">
                <a:solidFill>
                  <a:schemeClr val="bg1"/>
                </a:solidFill>
              </a:rPr>
              <a:t> and </a:t>
            </a:r>
            <a:r>
              <a:rPr lang="fr-FR" sz="2000" dirty="0" err="1">
                <a:solidFill>
                  <a:schemeClr val="bg1"/>
                </a:solidFill>
              </a:rPr>
              <a:t>unpredictable</a:t>
            </a:r>
            <a:r>
              <a:rPr lang="fr-FR" sz="2000" dirty="0">
                <a:solidFill>
                  <a:schemeClr val="bg1"/>
                </a:solidFill>
              </a:rPr>
              <a:t> a </a:t>
            </a:r>
            <a:r>
              <a:rPr lang="fr-FR" sz="2000" dirty="0" err="1">
                <a:solidFill>
                  <a:schemeClr val="bg1"/>
                </a:solidFill>
              </a:rPr>
              <a:t>password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is</a:t>
            </a:r>
            <a:r>
              <a:rPr lang="fr-FR" sz="2000" dirty="0">
                <a:solidFill>
                  <a:schemeClr val="bg1"/>
                </a:solidFill>
              </a:rPr>
              <a:t>, the </a:t>
            </a:r>
            <a:r>
              <a:rPr lang="fr-FR" sz="2000" dirty="0" err="1">
                <a:solidFill>
                  <a:schemeClr val="bg1"/>
                </a:solidFill>
              </a:rPr>
              <a:t>higher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entropy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is</a:t>
            </a:r>
            <a:r>
              <a:rPr lang="fr-FR" sz="2000" dirty="0">
                <a:solidFill>
                  <a:schemeClr val="bg1"/>
                </a:solidFill>
              </a:rPr>
              <a:t>. </a:t>
            </a:r>
          </a:p>
          <a:p>
            <a:pPr lvl="0"/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Longer combinations are harder to </a:t>
            </a:r>
            <a:r>
              <a:rPr lang="fr-FR" sz="2000" dirty="0" err="1">
                <a:solidFill>
                  <a:schemeClr val="bg1"/>
                </a:solidFill>
              </a:rPr>
              <a:t>guess</a:t>
            </a:r>
            <a:r>
              <a:rPr lang="fr-FR" sz="2000" dirty="0">
                <a:solidFill>
                  <a:schemeClr val="bg1"/>
                </a:solidFill>
              </a:rPr>
              <a:t>.</a:t>
            </a:r>
          </a:p>
          <a:p>
            <a:r>
              <a:rPr lang="fr-FR" sz="2000" dirty="0">
                <a:solidFill>
                  <a:schemeClr val="bg1"/>
                </a:solidFill>
              </a:rPr>
              <a:t>« MySecurepassW@987 » </a:t>
            </a:r>
            <a:r>
              <a:rPr lang="fr-FR" sz="2000" dirty="0" err="1">
                <a:solidFill>
                  <a:schemeClr val="bg1"/>
                </a:solidFill>
              </a:rPr>
              <a:t>compared</a:t>
            </a:r>
            <a:r>
              <a:rPr lang="fr-FR" sz="2000" dirty="0">
                <a:solidFill>
                  <a:schemeClr val="bg1"/>
                </a:solidFill>
              </a:rPr>
              <a:t> to « name123 ».</a:t>
            </a:r>
          </a:p>
          <a:p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042DD62-986B-657A-CF22-3A98BD26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fr-FR" smtClean="0">
                <a:solidFill>
                  <a:schemeClr val="bg1"/>
                </a:solidFill>
              </a:rPr>
              <a:pPr rtl="0"/>
              <a:t>7</a:t>
            </a:fld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803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BCEB62-A0B1-835B-D517-85117A70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101" y="970386"/>
            <a:ext cx="7931798" cy="680737"/>
          </a:xfrm>
        </p:spPr>
        <p:txBody>
          <a:bodyPr>
            <a:normAutofit/>
          </a:bodyPr>
          <a:lstStyle/>
          <a:p>
            <a:r>
              <a:rPr lang="fr-FR" sz="4000" dirty="0"/>
              <a:t>EXISTING SOLUTIONS OVERVIEW </a:t>
            </a:r>
          </a:p>
        </p:txBody>
      </p:sp>
      <p:graphicFrame>
        <p:nvGraphicFramePr>
          <p:cNvPr id="7" name="Espace réservé du tableau 6">
            <a:extLst>
              <a:ext uri="{FF2B5EF4-FFF2-40B4-BE49-F238E27FC236}">
                <a16:creationId xmlns:a16="http://schemas.microsoft.com/office/drawing/2014/main" id="{2828C491-ABED-EE6B-25DD-5C0A4D6001E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641961201"/>
              </p:ext>
            </p:extLst>
          </p:nvPr>
        </p:nvGraphicFramePr>
        <p:xfrm>
          <a:off x="320351" y="2381962"/>
          <a:ext cx="11551298" cy="3003332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659224">
                  <a:extLst>
                    <a:ext uri="{9D8B030D-6E8A-4147-A177-3AD203B41FA5}">
                      <a16:colId xmlns:a16="http://schemas.microsoft.com/office/drawing/2014/main" val="420112249"/>
                    </a:ext>
                  </a:extLst>
                </a:gridCol>
                <a:gridCol w="2911151">
                  <a:extLst>
                    <a:ext uri="{9D8B030D-6E8A-4147-A177-3AD203B41FA5}">
                      <a16:colId xmlns:a16="http://schemas.microsoft.com/office/drawing/2014/main" val="1039460193"/>
                    </a:ext>
                  </a:extLst>
                </a:gridCol>
                <a:gridCol w="2920482">
                  <a:extLst>
                    <a:ext uri="{9D8B030D-6E8A-4147-A177-3AD203B41FA5}">
                      <a16:colId xmlns:a16="http://schemas.microsoft.com/office/drawing/2014/main" val="1629818416"/>
                    </a:ext>
                  </a:extLst>
                </a:gridCol>
                <a:gridCol w="3060441">
                  <a:extLst>
                    <a:ext uri="{9D8B030D-6E8A-4147-A177-3AD203B41FA5}">
                      <a16:colId xmlns:a16="http://schemas.microsoft.com/office/drawing/2014/main" val="562662111"/>
                    </a:ext>
                  </a:extLst>
                </a:gridCol>
              </a:tblGrid>
              <a:tr h="501197">
                <a:tc>
                  <a:txBody>
                    <a:bodyPr/>
                    <a:lstStyle/>
                    <a:p>
                      <a:pPr algn="l"/>
                      <a:r>
                        <a:rPr lang="fr-FR" sz="2000" dirty="0"/>
                        <a:t>TOOL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000" dirty="0"/>
                        <a:t>CORE FUNCTION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000" dirty="0"/>
                        <a:t>ADVANTAGE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000" dirty="0"/>
                        <a:t>LIMITATION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239394"/>
                  </a:ext>
                </a:extLst>
              </a:tr>
              <a:tr h="834045">
                <a:tc>
                  <a:txBody>
                    <a:bodyPr/>
                    <a:lstStyle/>
                    <a:p>
                      <a:pPr algn="l"/>
                      <a:r>
                        <a:rPr lang="fr-FR" sz="180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zxcvbn</a:t>
                      </a:r>
                      <a:endParaRPr lang="fr-FR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Pattern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analysis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Accurate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 &amp;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widely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used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Requires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 large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dataset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110304"/>
                  </a:ext>
                </a:extLst>
              </a:tr>
              <a:tr h="834045">
                <a:tc>
                  <a:txBody>
                    <a:bodyPr/>
                    <a:lstStyle/>
                    <a:p>
                      <a:pPr algn="l"/>
                      <a:r>
                        <a:rPr lang="fr-FR" sz="18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Kaspersky Password Checker</a:t>
                      </a:r>
                      <a:endParaRPr lang="fr-FR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Breach check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Known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leak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detection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Requires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 internet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connection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946472"/>
                  </a:ext>
                </a:extLst>
              </a:tr>
              <a:tr h="834045">
                <a:tc>
                  <a:txBody>
                    <a:bodyPr/>
                    <a:lstStyle/>
                    <a:p>
                      <a:pPr algn="l"/>
                      <a:r>
                        <a:rPr lang="fr-FR" sz="180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Bitwarden</a:t>
                      </a:r>
                      <a:r>
                        <a:rPr lang="fr-FR" sz="18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Password</a:t>
                      </a:r>
                      <a:r>
                        <a:rPr lang="fr-FR" sz="18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Tool </a:t>
                      </a:r>
                      <a:endParaRPr lang="fr-FR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Entropy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evaluation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Password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generation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Underestimates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password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strength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745302"/>
                  </a:ext>
                </a:extLst>
              </a:tr>
            </a:tbl>
          </a:graphicData>
        </a:graphic>
      </p:graphicFrame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EA9B885-E057-FF6A-D13E-D1D63FD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fr-FR" smtClean="0"/>
              <a:pPr rtl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06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F90B721B-E021-FC27-42BC-7A0C0BE640BE}"/>
              </a:ext>
            </a:extLst>
          </p:cNvPr>
          <p:cNvSpPr txBox="1"/>
          <p:nvPr/>
        </p:nvSpPr>
        <p:spPr>
          <a:xfrm>
            <a:off x="503854" y="811764"/>
            <a:ext cx="4721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SYSTEM OVERVIEW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0EFA998-B559-3FC0-08F1-C75D4626C789}"/>
              </a:ext>
            </a:extLst>
          </p:cNvPr>
          <p:cNvSpPr txBox="1"/>
          <p:nvPr/>
        </p:nvSpPr>
        <p:spPr>
          <a:xfrm>
            <a:off x="671805" y="2155371"/>
            <a:ext cx="85375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The </a:t>
            </a:r>
            <a:r>
              <a:rPr lang="fr-FR" sz="2000" dirty="0" err="1"/>
              <a:t>Password</a:t>
            </a:r>
            <a:r>
              <a:rPr lang="fr-FR" sz="2000" dirty="0"/>
              <a:t> Strength Tester :</a:t>
            </a:r>
          </a:p>
          <a:p>
            <a:r>
              <a:rPr lang="fr-FR" sz="2000" dirty="0"/>
              <a:t>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/>
              <a:t>designed</a:t>
            </a:r>
            <a:r>
              <a:rPr lang="fr-FR" sz="2000" dirty="0"/>
              <a:t> as a </a:t>
            </a:r>
            <a:r>
              <a:rPr lang="fr-FR" sz="2000" dirty="0">
                <a:solidFill>
                  <a:schemeClr val="accent5">
                    <a:lumMod val="50000"/>
                  </a:schemeClr>
                </a:solidFill>
              </a:rPr>
              <a:t>web-</a:t>
            </a:r>
            <a:r>
              <a:rPr lang="fr-FR" sz="2000" dirty="0" err="1">
                <a:solidFill>
                  <a:schemeClr val="accent5">
                    <a:lumMod val="50000"/>
                  </a:schemeClr>
                </a:solidFill>
              </a:rPr>
              <a:t>based</a:t>
            </a:r>
            <a:r>
              <a:rPr lang="fr-FR" sz="2000" dirty="0"/>
              <a:t> application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>
                <a:solidFill>
                  <a:schemeClr val="accent5">
                    <a:lumMod val="50000"/>
                  </a:schemeClr>
                </a:solidFill>
              </a:rPr>
              <a:t>analyzes</a:t>
            </a:r>
            <a:r>
              <a:rPr lang="fr-FR" sz="2000" dirty="0"/>
              <a:t> the </a:t>
            </a:r>
            <a:r>
              <a:rPr lang="fr-FR" sz="2000" dirty="0" err="1"/>
              <a:t>password</a:t>
            </a:r>
            <a:r>
              <a:rPr lang="fr-FR" sz="2000" dirty="0"/>
              <a:t> </a:t>
            </a:r>
            <a:r>
              <a:rPr lang="fr-FR" sz="2000" dirty="0" err="1"/>
              <a:t>entered</a:t>
            </a:r>
            <a:r>
              <a:rPr lang="fr-FR" sz="2000" dirty="0"/>
              <a:t> by the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checks </a:t>
            </a:r>
            <a:r>
              <a:rPr lang="fr-FR" sz="2000" dirty="0" err="1"/>
              <a:t>it</a:t>
            </a:r>
            <a:r>
              <a:rPr lang="fr-FR" sz="2000" dirty="0"/>
              <a:t> </a:t>
            </a:r>
            <a:r>
              <a:rPr lang="fr-FR" sz="2000" dirty="0" err="1"/>
              <a:t>against</a:t>
            </a:r>
            <a:r>
              <a:rPr lang="fr-FR" sz="2000" dirty="0"/>
              <a:t> a set of </a:t>
            </a:r>
            <a:r>
              <a:rPr lang="fr-FR" sz="2000" dirty="0" err="1"/>
              <a:t>predefined</a:t>
            </a:r>
            <a:r>
              <a:rPr lang="fr-FR" sz="2000" dirty="0"/>
              <a:t> </a:t>
            </a:r>
            <a:r>
              <a:rPr lang="fr-FR" sz="2000" dirty="0" err="1"/>
              <a:t>security</a:t>
            </a:r>
            <a:r>
              <a:rPr lang="fr-FR" sz="2000" dirty="0"/>
              <a:t> </a:t>
            </a:r>
            <a:r>
              <a:rPr lang="fr-FR" sz="2000" dirty="0" err="1"/>
              <a:t>rules</a:t>
            </a:r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/>
              <a:t>evaluates</a:t>
            </a:r>
            <a:r>
              <a:rPr lang="fr-FR" sz="2000" dirty="0"/>
              <a:t> the </a:t>
            </a:r>
            <a:r>
              <a:rPr lang="fr-FR" sz="2000" dirty="0" err="1">
                <a:solidFill>
                  <a:schemeClr val="accent5">
                    <a:lumMod val="50000"/>
                  </a:schemeClr>
                </a:solidFill>
              </a:rPr>
              <a:t>security</a:t>
            </a:r>
            <a:r>
              <a:rPr lang="fr-FR" sz="2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accent5">
                    <a:lumMod val="50000"/>
                  </a:schemeClr>
                </a:solidFill>
              </a:rPr>
              <a:t>level</a:t>
            </a:r>
            <a:r>
              <a:rPr lang="fr-FR" sz="2000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/>
              <a:t>calculates</a:t>
            </a:r>
            <a:r>
              <a:rPr lang="fr-FR" sz="2000" dirty="0"/>
              <a:t> a </a:t>
            </a:r>
            <a:r>
              <a:rPr lang="fr-FR" sz="2000" dirty="0" err="1">
                <a:solidFill>
                  <a:schemeClr val="accent5">
                    <a:lumMod val="50000"/>
                  </a:schemeClr>
                </a:solidFill>
              </a:rPr>
              <a:t>strength</a:t>
            </a:r>
            <a:r>
              <a:rPr lang="fr-FR" sz="2000" dirty="0">
                <a:solidFill>
                  <a:schemeClr val="accent5">
                    <a:lumMod val="50000"/>
                  </a:schemeClr>
                </a:solidFill>
              </a:rPr>
              <a:t> score</a:t>
            </a:r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/>
              <a:t>provides</a:t>
            </a:r>
            <a:r>
              <a:rPr lang="fr-FR" sz="2000" dirty="0"/>
              <a:t> </a:t>
            </a:r>
            <a:r>
              <a:rPr lang="fr-FR" sz="2000" dirty="0">
                <a:solidFill>
                  <a:schemeClr val="accent5">
                    <a:lumMod val="50000"/>
                  </a:schemeClr>
                </a:solidFill>
              </a:rPr>
              <a:t>feedback</a:t>
            </a:r>
            <a:r>
              <a:rPr lang="fr-FR" sz="2000" dirty="0"/>
              <a:t> : </a:t>
            </a:r>
            <a:r>
              <a:rPr lang="fr-FR" sz="2000" dirty="0" err="1"/>
              <a:t>weak</a:t>
            </a:r>
            <a:r>
              <a:rPr lang="fr-FR" sz="2000" dirty="0"/>
              <a:t>, medium, or </a:t>
            </a:r>
            <a:r>
              <a:rPr lang="fr-FR" sz="2000" dirty="0" err="1"/>
              <a:t>strong</a:t>
            </a:r>
            <a:r>
              <a:rPr lang="fr-FR" sz="2000" dirty="0"/>
              <a:t> </a:t>
            </a:r>
            <a:r>
              <a:rPr lang="fr-FR" sz="2000" dirty="0" err="1"/>
              <a:t>password</a:t>
            </a:r>
            <a:r>
              <a:rPr lang="fr-FR" sz="2000" dirty="0"/>
              <a:t>. </a:t>
            </a:r>
          </a:p>
          <a:p>
            <a:endParaRPr lang="fr-FR" sz="2000" dirty="0"/>
          </a:p>
          <a:p>
            <a:r>
              <a:rPr lang="fr-FR" sz="2000" dirty="0"/>
              <a:t>The goal -&gt; help </a:t>
            </a:r>
            <a:r>
              <a:rPr lang="fr-FR" sz="2000" dirty="0" err="1"/>
              <a:t>users</a:t>
            </a:r>
            <a:r>
              <a:rPr lang="fr-FR" sz="2000" dirty="0"/>
              <a:t> </a:t>
            </a:r>
            <a:r>
              <a:rPr lang="fr-FR" sz="2000" dirty="0" err="1"/>
              <a:t>understand</a:t>
            </a:r>
            <a:r>
              <a:rPr lang="fr-FR" sz="2000" dirty="0"/>
              <a:t> the </a:t>
            </a:r>
            <a:r>
              <a:rPr lang="fr-FR" sz="2000" dirty="0" err="1"/>
              <a:t>quality</a:t>
            </a:r>
            <a:r>
              <a:rPr lang="fr-FR" sz="2000" dirty="0"/>
              <a:t> of </a:t>
            </a:r>
            <a:r>
              <a:rPr lang="fr-FR" sz="2000" dirty="0" err="1"/>
              <a:t>their</a:t>
            </a:r>
            <a:r>
              <a:rPr lang="fr-FR" sz="2000" dirty="0"/>
              <a:t> </a:t>
            </a:r>
            <a:r>
              <a:rPr lang="fr-FR" sz="2000" dirty="0" err="1"/>
              <a:t>passwords</a:t>
            </a:r>
            <a:r>
              <a:rPr lang="fr-FR" sz="2000" dirty="0"/>
              <a:t> and encourage </a:t>
            </a:r>
            <a:r>
              <a:rPr lang="fr-FR" sz="2000" dirty="0" err="1"/>
              <a:t>stronger</a:t>
            </a:r>
            <a:r>
              <a:rPr lang="fr-FR" sz="2000" dirty="0"/>
              <a:t> </a:t>
            </a:r>
            <a:r>
              <a:rPr lang="fr-FR" sz="2000" dirty="0" err="1"/>
              <a:t>password</a:t>
            </a:r>
            <a:r>
              <a:rPr lang="fr-FR" sz="2000" dirty="0"/>
              <a:t> </a:t>
            </a:r>
            <a:r>
              <a:rPr lang="fr-FR" sz="2000" dirty="0" err="1"/>
              <a:t>creation</a:t>
            </a:r>
            <a:r>
              <a:rPr lang="fr-FR" sz="2000" dirty="0"/>
              <a:t>.</a:t>
            </a:r>
          </a:p>
          <a:p>
            <a:endParaRPr lang="fr-FR" sz="2000"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E16FF7EF-6011-B377-5299-A54A76BF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fr-FR" smtClean="0"/>
              <a:pPr rtl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6756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595D1539-D59C-8B9A-5582-834C2366A6B7}"/>
              </a:ext>
            </a:extLst>
          </p:cNvPr>
          <p:cNvSpPr txBox="1"/>
          <p:nvPr/>
        </p:nvSpPr>
        <p:spPr>
          <a:xfrm>
            <a:off x="1657738" y="348917"/>
            <a:ext cx="8868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SYSTEM ARCHITECTURE COMPONENTS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C0B3F3-1B1A-4135-10F9-A549CEA23748}"/>
              </a:ext>
            </a:extLst>
          </p:cNvPr>
          <p:cNvSpPr txBox="1"/>
          <p:nvPr/>
        </p:nvSpPr>
        <p:spPr>
          <a:xfrm>
            <a:off x="1110294" y="1339591"/>
            <a:ext cx="498167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5">
                    <a:lumMod val="50000"/>
                  </a:schemeClr>
                </a:solidFill>
              </a:rPr>
              <a:t>1/ USER INTERFACE</a:t>
            </a:r>
            <a:endParaRPr lang="fr-FR" altLang="fr-FR" sz="20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2000" dirty="0" err="1"/>
              <a:t>Accepts</a:t>
            </a:r>
            <a:r>
              <a:rPr lang="fr-FR" altLang="fr-FR" sz="2000" dirty="0"/>
              <a:t> </a:t>
            </a:r>
            <a:r>
              <a:rPr lang="fr-FR" altLang="fr-FR" sz="2000" dirty="0" err="1"/>
              <a:t>username</a:t>
            </a:r>
            <a:r>
              <a:rPr lang="fr-FR" altLang="fr-FR" sz="2000" dirty="0"/>
              <a:t> and </a:t>
            </a:r>
            <a:r>
              <a:rPr lang="fr-FR" altLang="fr-FR" sz="2000" dirty="0" err="1"/>
              <a:t>password</a:t>
            </a:r>
            <a:r>
              <a:rPr lang="fr-FR" altLang="fr-FR" sz="2000" dirty="0"/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2000" dirty="0"/>
              <a:t>Encourages </a:t>
            </a:r>
            <a:r>
              <a:rPr lang="fr-FR" altLang="fr-FR" sz="2000" dirty="0" err="1"/>
              <a:t>passphrase</a:t>
            </a:r>
            <a:r>
              <a:rPr lang="fr-FR" altLang="fr-FR" sz="2000" dirty="0"/>
              <a:t> usage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2000" dirty="0"/>
              <a:t>Displays </a:t>
            </a:r>
            <a:r>
              <a:rPr lang="fr-FR" altLang="fr-FR" sz="2000" dirty="0" err="1"/>
              <a:t>results</a:t>
            </a:r>
            <a:r>
              <a:rPr lang="fr-FR" altLang="fr-FR" sz="2000" dirty="0"/>
              <a:t> and feedback 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b="1" dirty="0">
                <a:solidFill>
                  <a:schemeClr val="accent5">
                    <a:lumMod val="50000"/>
                  </a:schemeClr>
                </a:solidFill>
              </a:rPr>
              <a:t>2/ INPUT VALIDATION MODULE</a:t>
            </a:r>
            <a:endParaRPr lang="fr-FR" altLang="fr-FR" sz="20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2000" dirty="0"/>
              <a:t>Checks </a:t>
            </a:r>
            <a:r>
              <a:rPr lang="fr-FR" altLang="fr-FR" sz="2000" dirty="0" err="1"/>
              <a:t>empty</a:t>
            </a:r>
            <a:r>
              <a:rPr lang="fr-FR" altLang="fr-FR" sz="2000" dirty="0"/>
              <a:t> </a:t>
            </a:r>
            <a:r>
              <a:rPr lang="fr-FR" altLang="fr-FR" sz="2000" dirty="0" err="1"/>
              <a:t>fields</a:t>
            </a:r>
            <a:r>
              <a:rPr lang="fr-FR" altLang="fr-FR" sz="2000" dirty="0"/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2000" dirty="0" err="1"/>
              <a:t>Verifies</a:t>
            </a:r>
            <a:r>
              <a:rPr lang="fr-FR" altLang="fr-FR" sz="2000" dirty="0"/>
              <a:t> input format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2000" dirty="0" err="1"/>
              <a:t>Sends</a:t>
            </a:r>
            <a:r>
              <a:rPr lang="fr-FR" altLang="fr-FR" sz="2000" dirty="0"/>
              <a:t> data to </a:t>
            </a:r>
            <a:r>
              <a:rPr lang="fr-FR" altLang="fr-FR" sz="2000" dirty="0" err="1"/>
              <a:t>analysis</a:t>
            </a:r>
            <a:r>
              <a:rPr lang="fr-FR" altLang="fr-FR" sz="2000" dirty="0"/>
              <a:t> module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b="1" dirty="0">
                <a:solidFill>
                  <a:schemeClr val="accent5">
                    <a:lumMod val="50000"/>
                  </a:schemeClr>
                </a:solidFill>
              </a:rPr>
              <a:t>3/ PASSWORD ANALYSIS MODULE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Checks password against security rules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Ensures password meets security requirements</a:t>
            </a:r>
            <a:endParaRPr lang="fr-FR" altLang="fr-FR" sz="20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29E7DBD-94FC-9438-8B15-BF35E46299D2}"/>
              </a:ext>
            </a:extLst>
          </p:cNvPr>
          <p:cNvSpPr txBox="1"/>
          <p:nvPr/>
        </p:nvSpPr>
        <p:spPr>
          <a:xfrm>
            <a:off x="6732668" y="2121526"/>
            <a:ext cx="42028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5">
                    <a:lumMod val="50000"/>
                  </a:schemeClr>
                </a:solidFill>
              </a:rPr>
              <a:t>4/ STRENGTH EVALUATION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err="1"/>
              <a:t>Calculates</a:t>
            </a:r>
            <a:r>
              <a:rPr lang="fr-FR" sz="2000" dirty="0"/>
              <a:t> the </a:t>
            </a:r>
            <a:r>
              <a:rPr lang="fr-FR" sz="2000" dirty="0" err="1"/>
              <a:t>strength</a:t>
            </a:r>
            <a:r>
              <a:rPr lang="fr-FR" sz="2000" dirty="0"/>
              <a:t> score  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b="1" dirty="0">
                <a:solidFill>
                  <a:schemeClr val="accent5">
                    <a:lumMod val="50000"/>
                  </a:schemeClr>
                </a:solidFill>
              </a:rPr>
              <a:t>5/ FEEDBACK GENERATOR </a:t>
            </a:r>
            <a:endParaRPr lang="fr-FR" altLang="fr-FR" sz="20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2000" dirty="0" err="1"/>
              <a:t>Sends</a:t>
            </a:r>
            <a:r>
              <a:rPr lang="fr-FR" altLang="fr-FR" sz="2000" dirty="0"/>
              <a:t> </a:t>
            </a:r>
            <a:r>
              <a:rPr lang="fr-FR" altLang="fr-FR" sz="2000" dirty="0" err="1"/>
              <a:t>strength</a:t>
            </a:r>
            <a:r>
              <a:rPr lang="fr-FR" altLang="fr-FR" sz="2000" dirty="0"/>
              <a:t> </a:t>
            </a:r>
            <a:r>
              <a:rPr lang="fr-FR" altLang="fr-FR" sz="2000" dirty="0" err="1"/>
              <a:t>result</a:t>
            </a:r>
            <a:r>
              <a:rPr lang="fr-FR" altLang="fr-FR" sz="2000" dirty="0"/>
              <a:t> to UI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2000" dirty="0" err="1"/>
              <a:t>Provides</a:t>
            </a:r>
            <a:r>
              <a:rPr lang="fr-FR" altLang="fr-FR" sz="2000" dirty="0"/>
              <a:t> </a:t>
            </a:r>
            <a:r>
              <a:rPr lang="fr-FR" altLang="fr-FR" sz="2000" dirty="0" err="1"/>
              <a:t>improvement</a:t>
            </a:r>
            <a:r>
              <a:rPr lang="fr-FR" altLang="fr-FR" sz="2000" dirty="0"/>
              <a:t> suggestions </a:t>
            </a:r>
          </a:p>
          <a:p>
            <a:endParaRPr lang="fr-FR" sz="2000"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26CB516D-4A7B-094A-3247-0FE3B250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fr-FR" smtClean="0"/>
              <a:pPr rtl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5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E5612FD-B9A0-E3E9-35EF-C89DE5740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2" t="9682" r="3994" b="6338"/>
          <a:stretch>
            <a:fillRect/>
          </a:stretch>
        </p:blipFill>
        <p:spPr bwMode="auto">
          <a:xfrm>
            <a:off x="284920" y="1731662"/>
            <a:ext cx="7272876" cy="415075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BAE227-7C1D-8687-3855-F2AC4C7E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49DFD55-3C28-40EF-9E31-A92D2E4017FF}" type="slidenum">
              <a:rPr lang="fr-FR" smtClean="0">
                <a:solidFill>
                  <a:schemeClr val="bg1"/>
                </a:solidFill>
              </a:rPr>
              <a:pPr rtl="0">
                <a:spcAft>
                  <a:spcPts val="600"/>
                </a:spcAft>
              </a:pPr>
              <a:t>11</a:t>
            </a:fld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A327EDC-CF16-45E1-DC4E-1A3989BC5E1B}"/>
              </a:ext>
            </a:extLst>
          </p:cNvPr>
          <p:cNvSpPr txBox="1"/>
          <p:nvPr/>
        </p:nvSpPr>
        <p:spPr>
          <a:xfrm>
            <a:off x="1199073" y="199559"/>
            <a:ext cx="5486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</a:rPr>
              <a:t>ARCHITECTURE </a:t>
            </a:r>
          </a:p>
          <a:p>
            <a:r>
              <a:rPr lang="fr-FR" sz="3600" dirty="0">
                <a:solidFill>
                  <a:schemeClr val="bg1"/>
                </a:solidFill>
              </a:rPr>
              <a:t>			DIAGRAM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BE3C0A-3755-D2D0-87CA-6D957657F095}"/>
              </a:ext>
            </a:extLst>
          </p:cNvPr>
          <p:cNvSpPr txBox="1"/>
          <p:nvPr/>
        </p:nvSpPr>
        <p:spPr>
          <a:xfrm>
            <a:off x="7953980" y="225440"/>
            <a:ext cx="3855498" cy="11485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36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36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EXCHANGED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C1285BF8-4163-4438-B50E-1F042B967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751494"/>
              </p:ext>
            </p:extLst>
          </p:nvPr>
        </p:nvGraphicFramePr>
        <p:xfrm>
          <a:off x="7856377" y="1731661"/>
          <a:ext cx="4050704" cy="4150755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1856790">
                  <a:extLst>
                    <a:ext uri="{9D8B030D-6E8A-4147-A177-3AD203B41FA5}">
                      <a16:colId xmlns:a16="http://schemas.microsoft.com/office/drawing/2014/main" val="2524062482"/>
                    </a:ext>
                  </a:extLst>
                </a:gridCol>
                <a:gridCol w="2193914">
                  <a:extLst>
                    <a:ext uri="{9D8B030D-6E8A-4147-A177-3AD203B41FA5}">
                      <a16:colId xmlns:a16="http://schemas.microsoft.com/office/drawing/2014/main" val="2181333107"/>
                    </a:ext>
                  </a:extLst>
                </a:gridCol>
              </a:tblGrid>
              <a:tr h="5335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User → UI</a:t>
                      </a:r>
                      <a:endParaRPr lang="fr-FR" sz="18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24" marR="67024" marT="13963" marB="134048" anchor="b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0" kern="100" cap="none" spc="0" dirty="0" err="1">
                          <a:solidFill>
                            <a:schemeClr val="tx1"/>
                          </a:solidFill>
                          <a:effectLst/>
                        </a:rPr>
                        <a:t>Username</a:t>
                      </a:r>
                      <a:r>
                        <a:rPr lang="fr-FR" sz="18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fr-FR" sz="1800" b="0" kern="100" cap="none" spc="0" dirty="0" err="1">
                          <a:solidFill>
                            <a:schemeClr val="tx1"/>
                          </a:solidFill>
                          <a:effectLst/>
                        </a:rPr>
                        <a:t>Password</a:t>
                      </a:r>
                      <a:endParaRPr lang="fr-FR" sz="18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24" marR="67024" marT="13963" marB="134048" anchor="b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823018"/>
                  </a:ext>
                </a:extLst>
              </a:tr>
              <a:tr h="5335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UI → Validation</a:t>
                      </a:r>
                      <a:endParaRPr lang="fr-FR" sz="18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24" marR="67024" marT="13963" marB="134048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Input data</a:t>
                      </a:r>
                      <a:endParaRPr lang="fr-FR" sz="18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24" marR="67024" marT="13963" marB="134048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91191"/>
                  </a:ext>
                </a:extLst>
              </a:tr>
              <a:tr h="5335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0" kern="100" cap="none" spc="0">
                          <a:solidFill>
                            <a:schemeClr val="tx1"/>
                          </a:solidFill>
                          <a:effectLst/>
                        </a:rPr>
                        <a:t>Validation → Analysis</a:t>
                      </a:r>
                      <a:endParaRPr lang="fr-FR" sz="18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24" marR="67024" marT="13963" marB="134048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cap="none" spc="0" dirty="0" err="1">
                          <a:solidFill>
                            <a:schemeClr val="tx1"/>
                          </a:solidFill>
                          <a:effectLst/>
                        </a:rPr>
                        <a:t>Password</a:t>
                      </a:r>
                      <a:r>
                        <a:rPr lang="fr-FR" sz="18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fr-FR" sz="18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24" marR="67024" marT="13963" marB="134048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788668"/>
                  </a:ext>
                </a:extLst>
              </a:tr>
              <a:tr h="5335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0" kern="100" cap="none" spc="0" dirty="0" err="1">
                          <a:solidFill>
                            <a:schemeClr val="tx1"/>
                          </a:solidFill>
                          <a:effectLst/>
                        </a:rPr>
                        <a:t>Analysis</a:t>
                      </a:r>
                      <a:r>
                        <a:rPr lang="fr-FR" sz="18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 → Evaluation</a:t>
                      </a:r>
                      <a:endParaRPr lang="fr-FR" sz="18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24" marR="67024" marT="13963" marB="134048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Security </a:t>
                      </a:r>
                      <a:r>
                        <a:rPr lang="fr-FR" sz="1800" kern="100" cap="none" spc="0" dirty="0" err="1">
                          <a:solidFill>
                            <a:schemeClr val="tx1"/>
                          </a:solidFill>
                          <a:effectLst/>
                        </a:rPr>
                        <a:t>rules</a:t>
                      </a:r>
                      <a:r>
                        <a:rPr lang="fr-FR" sz="18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1800" kern="100" cap="none" spc="0" dirty="0" err="1">
                          <a:solidFill>
                            <a:schemeClr val="tx1"/>
                          </a:solidFill>
                          <a:effectLst/>
                        </a:rPr>
                        <a:t>results</a:t>
                      </a:r>
                      <a:endParaRPr lang="fr-FR" sz="18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24" marR="67024" marT="13963" marB="134048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455038"/>
                  </a:ext>
                </a:extLst>
              </a:tr>
              <a:tr h="5335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0" kern="100" cap="none" spc="0">
                          <a:solidFill>
                            <a:schemeClr val="tx1"/>
                          </a:solidFill>
                          <a:effectLst/>
                        </a:rPr>
                        <a:t>Evaluation → Feedback</a:t>
                      </a:r>
                      <a:endParaRPr lang="fr-FR" sz="18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24" marR="67024" marT="13963" marB="134048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Strength score</a:t>
                      </a:r>
                      <a:endParaRPr lang="fr-FR" sz="18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24" marR="67024" marT="13963" marB="134048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3434"/>
                  </a:ext>
                </a:extLst>
              </a:tr>
              <a:tr h="5335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0" kern="100" cap="none" spc="0">
                          <a:solidFill>
                            <a:schemeClr val="tx1"/>
                          </a:solidFill>
                          <a:effectLst/>
                        </a:rPr>
                        <a:t>Feedback → UI</a:t>
                      </a:r>
                      <a:endParaRPr lang="fr-FR" sz="18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24" marR="67024" marT="13963" marB="134048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Result / suggestions</a:t>
                      </a:r>
                      <a:endParaRPr lang="fr-FR" sz="18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24" marR="67024" marT="13963" marB="134048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603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973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D8C9F4-0743-8B45-2AA2-FF2B0FF3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fr-FR" smtClean="0"/>
              <a:pPr rtl="0"/>
              <a:t>12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B2A1FB8-73EB-1CFB-A858-1DF0F8691576}"/>
              </a:ext>
            </a:extLst>
          </p:cNvPr>
          <p:cNvSpPr txBox="1"/>
          <p:nvPr/>
        </p:nvSpPr>
        <p:spPr>
          <a:xfrm>
            <a:off x="702906" y="479406"/>
            <a:ext cx="5467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DEVELOPMENT PHASE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EFB8EAF-7B5E-20D8-EA2D-8EBB06A2B12B}"/>
              </a:ext>
            </a:extLst>
          </p:cNvPr>
          <p:cNvSpPr txBox="1"/>
          <p:nvPr/>
        </p:nvSpPr>
        <p:spPr>
          <a:xfrm>
            <a:off x="864634" y="1475457"/>
            <a:ext cx="6366590" cy="4195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fr-FR" sz="2000" b="1" dirty="0" err="1"/>
              <a:t>Requirement</a:t>
            </a:r>
            <a:r>
              <a:rPr lang="fr-FR" sz="2000" b="1" dirty="0"/>
              <a:t> </a:t>
            </a:r>
            <a:r>
              <a:rPr lang="fr-FR" sz="2000" b="1" dirty="0" err="1"/>
              <a:t>Analysis</a:t>
            </a:r>
            <a:r>
              <a:rPr lang="fr-FR" sz="2000" b="1" dirty="0"/>
              <a:t> : </a:t>
            </a:r>
            <a:r>
              <a:rPr lang="fr-FR" sz="2000" dirty="0"/>
              <a:t>objectives + concepts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endParaRPr lang="fr-FR" sz="2000" dirty="0"/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fr-FR" sz="2000" b="1" dirty="0"/>
              <a:t>System Design : </a:t>
            </a:r>
            <a:r>
              <a:rPr lang="fr-FR" sz="2000" dirty="0"/>
              <a:t>main components + data flow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endParaRPr lang="fr-FR" sz="2000" dirty="0"/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fr-FR" sz="2000" b="1" dirty="0" err="1"/>
              <a:t>Implementation</a:t>
            </a:r>
            <a:endParaRPr lang="fr-FR" sz="2000" b="1" dirty="0"/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endParaRPr lang="fr-FR" sz="2000" dirty="0"/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fr-FR" sz="2000" b="1" dirty="0" err="1"/>
              <a:t>Testing</a:t>
            </a:r>
            <a:r>
              <a:rPr lang="fr-FR" sz="2000" b="1" dirty="0"/>
              <a:t> 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endParaRPr lang="fr-FR" sz="2000" dirty="0"/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fr-FR" sz="2000" b="1" dirty="0" err="1"/>
              <a:t>Deployment</a:t>
            </a:r>
            <a:r>
              <a:rPr lang="fr-FR" sz="2000" b="1" dirty="0"/>
              <a:t> and Documentation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5DEBD30-5B92-1FFF-07C2-4E6FBA3A04A9}"/>
              </a:ext>
            </a:extLst>
          </p:cNvPr>
          <p:cNvSpPr txBox="1"/>
          <p:nvPr/>
        </p:nvSpPr>
        <p:spPr>
          <a:xfrm>
            <a:off x="2559698" y="5710019"/>
            <a:ext cx="3704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linkClick r:id="rId2"/>
              </a:rPr>
              <a:t>http://127.0.0.1:5500/index.html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0697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57615B27-43C3-F199-5FB5-61D0C386ECE2}"/>
              </a:ext>
            </a:extLst>
          </p:cNvPr>
          <p:cNvSpPr txBox="1"/>
          <p:nvPr/>
        </p:nvSpPr>
        <p:spPr>
          <a:xfrm>
            <a:off x="4103914" y="3044279"/>
            <a:ext cx="39841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- THANK YOU -</a:t>
            </a:r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CC6002D0-9C35-087C-7BDD-63DA99AE2512}"/>
              </a:ext>
            </a:extLst>
          </p:cNvPr>
          <p:cNvSpPr txBox="1">
            <a:spLocks/>
          </p:cNvSpPr>
          <p:nvPr/>
        </p:nvSpPr>
        <p:spPr>
          <a:xfrm>
            <a:off x="9579428" y="6412336"/>
            <a:ext cx="1774371" cy="365125"/>
          </a:xfrm>
          <a:prstGeom prst="rect">
            <a:avLst/>
          </a:prstGeom>
        </p:spPr>
        <p:txBody>
          <a:bodyPr/>
          <a:lstStyle>
            <a:defPPr rtl="0">
              <a:defRPr lang="fr-FR"/>
            </a:defPPr>
            <a:lvl1pPr marL="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49DFD55-3C28-40EF-9E31-A92D2E4017FF}" type="slidenum">
              <a:rPr lang="fr-FR" sz="900" smtClean="0">
                <a:solidFill>
                  <a:srgbClr val="898989"/>
                </a:solidFill>
              </a:rPr>
              <a:pPr algn="r"/>
              <a:t>13</a:t>
            </a:fld>
            <a:endParaRPr lang="fr-FR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3799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7037_TF67328976_Win32" id="{E569B7C3-0BA4-406D-9BE9-5B461807E327}" vid="{D812BBC8-2D47-4B93-9C83-8DFFBCA5816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{D7FDC5D3-9544-41EC-A7B9-07A013618301}TF7521aafa-c748-4c40-a498-ba511be234dc9be095fc_win32-9da552dfceaf</Template>
  <TotalTime>681</TotalTime>
  <Words>737</Words>
  <Application>Microsoft Office PowerPoint</Application>
  <PresentationFormat>Grand écran</PresentationFormat>
  <Paragraphs>164</Paragraphs>
  <Slides>13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Tenorite</vt:lpstr>
      <vt:lpstr>Wingdings</vt:lpstr>
      <vt:lpstr>Thème Office</vt:lpstr>
      <vt:lpstr>Password Strength Tester</vt:lpstr>
      <vt:lpstr>ROADMAP</vt:lpstr>
      <vt:lpstr>PROBLEM   INTRODUCTION</vt:lpstr>
      <vt:lpstr>PROJECT   OBJETIVES</vt:lpstr>
      <vt:lpstr>Présentation PowerPoint</vt:lpstr>
      <vt:lpstr>Présentation PowerPoint</vt:lpstr>
      <vt:lpstr>Présentation PowerPoint</vt:lpstr>
      <vt:lpstr>EXISTING SOLUTIONS OVERVIEW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Rania Mestiri</dc:creator>
  <cp:lastModifiedBy>Rania Mestiri</cp:lastModifiedBy>
  <cp:revision>3</cp:revision>
  <dcterms:created xsi:type="dcterms:W3CDTF">2026-04-29T22:16:59Z</dcterms:created>
  <dcterms:modified xsi:type="dcterms:W3CDTF">2026-05-01T17:15:59Z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